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6" r:id="rId2"/>
    <p:sldId id="262" r:id="rId3"/>
    <p:sldId id="317" r:id="rId4"/>
    <p:sldId id="318" r:id="rId5"/>
    <p:sldId id="327" r:id="rId6"/>
    <p:sldId id="326" r:id="rId7"/>
    <p:sldId id="328" r:id="rId8"/>
    <p:sldId id="330" r:id="rId9"/>
    <p:sldId id="325" r:id="rId10"/>
    <p:sldId id="329" r:id="rId11"/>
    <p:sldId id="324" r:id="rId12"/>
    <p:sldId id="319" r:id="rId13"/>
    <p:sldId id="331" r:id="rId14"/>
    <p:sldId id="332" r:id="rId15"/>
    <p:sldId id="333" r:id="rId16"/>
    <p:sldId id="335" r:id="rId17"/>
    <p:sldId id="334" r:id="rId18"/>
    <p:sldId id="320" r:id="rId19"/>
    <p:sldId id="336" r:id="rId20"/>
    <p:sldId id="337" r:id="rId21"/>
    <p:sldId id="323" r:id="rId22"/>
    <p:sldId id="338" r:id="rId23"/>
  </p:sldIdLst>
  <p:sldSz cx="12192000" cy="6858000"/>
  <p:notesSz cx="6858000" cy="9144000"/>
  <p:custDataLst>
    <p:tags r:id="rId24"/>
  </p:custData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8EF1"/>
    <a:srgbClr val="009579"/>
    <a:srgbClr val="5FDFB4"/>
    <a:srgbClr val="CDF5E8"/>
    <a:srgbClr val="590A06"/>
    <a:srgbClr val="40382D"/>
    <a:srgbClr val="F2F2F2"/>
    <a:srgbClr val="FFD9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0" autoAdjust="0"/>
    <p:restoredTop sz="94660"/>
  </p:normalViewPr>
  <p:slideViewPr>
    <p:cSldViewPr snapToGrid="0">
      <p:cViewPr varScale="1">
        <p:scale>
          <a:sx n="74" d="100"/>
          <a:sy n="74" d="100"/>
        </p:scale>
        <p:origin x="3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6867FC-A8DE-BEB7-2309-ADCA07866EA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4B85DAD0-4459-FE55-CECB-B90C12D2C4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4C93660F-B513-D89E-3576-4B88D2721097}"/>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5" name="Marcador de pie de página 4">
            <a:extLst>
              <a:ext uri="{FF2B5EF4-FFF2-40B4-BE49-F238E27FC236}">
                <a16:creationId xmlns:a16="http://schemas.microsoft.com/office/drawing/2014/main" id="{B1571D67-05D4-40F3-A596-B31971CA820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0F4F99C-EC70-5C40-C5B7-8479F75E2796}"/>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3783173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C71948-1D70-C81A-D90B-6F5DD40F066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E83B3FA-BF34-9B88-F7A2-2664CC15FCE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D7BB04C-53D9-2240-EFBB-03E5B4168E03}"/>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5" name="Marcador de pie de página 4">
            <a:extLst>
              <a:ext uri="{FF2B5EF4-FFF2-40B4-BE49-F238E27FC236}">
                <a16:creationId xmlns:a16="http://schemas.microsoft.com/office/drawing/2014/main" id="{52E6789C-BF46-2BBB-306A-AA8A16DBBCD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9072ED8-D00A-CE94-25F5-8515F3C92176}"/>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72303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3BDF99-07FE-98E0-669A-06E2C48D09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23847A3-4ACC-0908-790B-8E5C10CA9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EC98C58-1CBC-EF20-F770-D885D590223A}"/>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5" name="Marcador de pie de página 4">
            <a:extLst>
              <a:ext uri="{FF2B5EF4-FFF2-40B4-BE49-F238E27FC236}">
                <a16:creationId xmlns:a16="http://schemas.microsoft.com/office/drawing/2014/main" id="{FF18368C-D8B9-6D4B-57A6-21EA11D21B8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A26A211-29B6-2EA7-7785-143598371218}"/>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3446801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322BBB-57E9-CC00-168E-0EDCF713B0B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C5C986D1-489A-F637-C584-85EE0DD2C65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2A6C9512-AB68-C18C-97AE-C94FF97A293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15EC1403-2C43-9EFA-9859-FEBA222EA64A}"/>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6" name="Marcador de pie de página 5">
            <a:extLst>
              <a:ext uri="{FF2B5EF4-FFF2-40B4-BE49-F238E27FC236}">
                <a16:creationId xmlns:a16="http://schemas.microsoft.com/office/drawing/2014/main" id="{A079F71A-5E48-5A6D-32BC-AA984216C3B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6642BCC-FC6F-7D4F-1548-44F4FAEA1ED3}"/>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108347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AA3E8A-6392-4937-1B6B-B6408F43AC9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058097CE-196A-CA0F-7949-C689C4672B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997850D-DDCE-2B8F-F886-A925AFA063D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40AA7365-B339-74BB-17AC-78D1AFE735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E086C7C-18AD-222A-2EFF-AB30D9A066D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52AEE7-79F3-5DD2-FA9C-EB2EAB3C7498}"/>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8" name="Marcador de pie de página 7">
            <a:extLst>
              <a:ext uri="{FF2B5EF4-FFF2-40B4-BE49-F238E27FC236}">
                <a16:creationId xmlns:a16="http://schemas.microsoft.com/office/drawing/2014/main" id="{69EF79DD-AEEE-F5CE-F2A2-AD118116DEB4}"/>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A32CD2A8-BD40-A64D-FB29-42D2CB50601D}"/>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4147809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3DAC91-67EB-D444-D6C1-509B11711C3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BD35F173-A537-CFA8-9CEB-A70EAE64649A}"/>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4" name="Marcador de pie de página 3">
            <a:extLst>
              <a:ext uri="{FF2B5EF4-FFF2-40B4-BE49-F238E27FC236}">
                <a16:creationId xmlns:a16="http://schemas.microsoft.com/office/drawing/2014/main" id="{A32DB93C-BC82-4122-1972-F06E5C8F2466}"/>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7BAC77BA-0944-742F-1582-328DC6079994}"/>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2230123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945E1C4-6174-26B8-BD5E-BDCBAB7CEBCF}"/>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3" name="Marcador de pie de página 2">
            <a:extLst>
              <a:ext uri="{FF2B5EF4-FFF2-40B4-BE49-F238E27FC236}">
                <a16:creationId xmlns:a16="http://schemas.microsoft.com/office/drawing/2014/main" id="{D734D51A-9FE0-73DC-339A-AB18F8D080E1}"/>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EBA08305-8078-E9A9-D645-512AA096B528}"/>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4130852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D10F01-81DB-FAF2-7A28-667941ADA82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0F57EBD-4DFF-A354-AD9C-CB83FD6D9C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5AC9778-1481-3414-D966-DDD4D4B410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CA95F97-3D1A-4B0E-66FA-E1C4BC1ECA8B}"/>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6" name="Marcador de pie de página 5">
            <a:extLst>
              <a:ext uri="{FF2B5EF4-FFF2-40B4-BE49-F238E27FC236}">
                <a16:creationId xmlns:a16="http://schemas.microsoft.com/office/drawing/2014/main" id="{633523B4-6940-4754-AC34-96F68AB4D1A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644A464-A5F8-2727-FE7E-191C9CA95553}"/>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3833818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EAEC7B-5DB1-3211-18A0-E7F4FE88732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0BB9676-7850-63F3-E0CB-42C9EA4C03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5487C856-D660-42A4-4801-BC1AD05CED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830EE0A-E498-7145-6A6F-ED94302B696B}"/>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6" name="Marcador de pie de página 5">
            <a:extLst>
              <a:ext uri="{FF2B5EF4-FFF2-40B4-BE49-F238E27FC236}">
                <a16:creationId xmlns:a16="http://schemas.microsoft.com/office/drawing/2014/main" id="{F7B442C6-A743-8656-79F3-DCC6EE33934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BFBB10F-38A0-1C19-8034-6EAE8B2573C6}"/>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1431756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1A361-5C18-6498-3353-2DF4A4261D5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3FBA6CAE-87E8-2B95-49CD-67B2AB65F8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9A343DC-D5DB-68F0-A3CB-6E8DF0D83C14}"/>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5" name="Marcador de pie de página 4">
            <a:extLst>
              <a:ext uri="{FF2B5EF4-FFF2-40B4-BE49-F238E27FC236}">
                <a16:creationId xmlns:a16="http://schemas.microsoft.com/office/drawing/2014/main" id="{9B18F4E6-EE01-42E3-D654-75BA15C681B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F697BF0-7C74-0A8B-B7EC-276F993A71B8}"/>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3556275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2FC3F77-EBFF-9CDA-9940-B87F4A539F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15511C0-2287-DE9F-400B-A7DCE2D5E27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D5E7372-80DE-6BC0-682F-AB54EF25CAA7}"/>
              </a:ext>
            </a:extLst>
          </p:cNvPr>
          <p:cNvSpPr>
            <a:spLocks noGrp="1"/>
          </p:cNvSpPr>
          <p:nvPr>
            <p:ph type="dt" sz="half" idx="10"/>
          </p:nvPr>
        </p:nvSpPr>
        <p:spPr/>
        <p:txBody>
          <a:bodyPr/>
          <a:lstStyle/>
          <a:p>
            <a:fld id="{20C7AFBE-F2C4-4925-8955-5790DBA5559D}" type="datetimeFigureOut">
              <a:rPr lang="es-CO" smtClean="0"/>
              <a:t>7/05/2026</a:t>
            </a:fld>
            <a:endParaRPr lang="es-CO"/>
          </a:p>
        </p:txBody>
      </p:sp>
      <p:sp>
        <p:nvSpPr>
          <p:cNvPr id="5" name="Marcador de pie de página 4">
            <a:extLst>
              <a:ext uri="{FF2B5EF4-FFF2-40B4-BE49-F238E27FC236}">
                <a16:creationId xmlns:a16="http://schemas.microsoft.com/office/drawing/2014/main" id="{88680DEB-D5A7-76F3-4FC9-A79BF92BEA6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E7CD804-5A3C-6594-22F8-941FECCBB1FD}"/>
              </a:ext>
            </a:extLst>
          </p:cNvPr>
          <p:cNvSpPr>
            <a:spLocks noGrp="1"/>
          </p:cNvSpPr>
          <p:nvPr>
            <p:ph type="sldNum" sz="quarter" idx="12"/>
          </p:nvPr>
        </p:nvSpPr>
        <p:spPr/>
        <p:txBody>
          <a:bodyPr/>
          <a:lstStyle/>
          <a:p>
            <a:fld id="{2F2EB2F7-2FFB-4DD8-B77C-3FC4F01FFE5E}" type="slidenum">
              <a:rPr lang="es-CO" smtClean="0"/>
              <a:t>‹Nº›</a:t>
            </a:fld>
            <a:endParaRPr lang="es-CO"/>
          </a:p>
        </p:txBody>
      </p:sp>
    </p:spTree>
    <p:extLst>
      <p:ext uri="{BB962C8B-B14F-4D97-AF65-F5344CB8AC3E}">
        <p14:creationId xmlns:p14="http://schemas.microsoft.com/office/powerpoint/2010/main" val="2810495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5869A09-FEF3-311C-B2BB-C81FA0F208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8B04212-FCC9-4856-E626-1607418AD6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02E3369-AC7F-096E-2AA8-DA9FB14B64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C7AFBE-F2C4-4925-8955-5790DBA5559D}" type="datetimeFigureOut">
              <a:rPr lang="es-CO" smtClean="0"/>
              <a:t>7/05/2026</a:t>
            </a:fld>
            <a:endParaRPr lang="es-CO"/>
          </a:p>
        </p:txBody>
      </p:sp>
      <p:sp>
        <p:nvSpPr>
          <p:cNvPr id="5" name="Marcador de pie de página 4">
            <a:extLst>
              <a:ext uri="{FF2B5EF4-FFF2-40B4-BE49-F238E27FC236}">
                <a16:creationId xmlns:a16="http://schemas.microsoft.com/office/drawing/2014/main" id="{C00568B0-646E-830F-43E3-53B516B50E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DACDB0F-BB48-6B49-1F03-D4CC8E046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2EB2F7-2FFB-4DD8-B77C-3FC4F01FFE5E}" type="slidenum">
              <a:rPr lang="es-CO" smtClean="0"/>
              <a:t>‹Nº›</a:t>
            </a:fld>
            <a:endParaRPr lang="es-CO"/>
          </a:p>
        </p:txBody>
      </p:sp>
    </p:spTree>
    <p:extLst>
      <p:ext uri="{BB962C8B-B14F-4D97-AF65-F5344CB8AC3E}">
        <p14:creationId xmlns:p14="http://schemas.microsoft.com/office/powerpoint/2010/main" val="3963108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16.jpeg"/><Relationship Id="rId4"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6.pn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6.png"/><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21.jfif"/></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22.jpeg"/></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24.jpeg"/></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FD7D6-C94B-33A0-66D5-1708A5CE85BB}"/>
            </a:ext>
          </a:extLst>
        </p:cNvPr>
        <p:cNvGrpSpPr/>
        <p:nvPr/>
      </p:nvGrpSpPr>
      <p:grpSpPr>
        <a:xfrm>
          <a:off x="0" y="0"/>
          <a:ext cx="0" cy="0"/>
          <a:chOff x="0" y="0"/>
          <a:chExt cx="0" cy="0"/>
        </a:xfrm>
      </p:grpSpPr>
      <p:pic>
        <p:nvPicPr>
          <p:cNvPr id="5" name="Picture 4" descr="A group of women looking at a computer&#10;&#10;Description automatically generated">
            <a:extLst>
              <a:ext uri="{FF2B5EF4-FFF2-40B4-BE49-F238E27FC236}">
                <a16:creationId xmlns:a16="http://schemas.microsoft.com/office/drawing/2014/main" id="{FD60101D-D15C-8B23-546F-489FF7B89CC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67CCCE5D-B55F-9AED-DADC-103BB5E5180E}"/>
              </a:ext>
            </a:extLst>
          </p:cNvPr>
          <p:cNvSpPr txBox="1"/>
          <p:nvPr/>
        </p:nvSpPr>
        <p:spPr>
          <a:xfrm>
            <a:off x="893435" y="1576108"/>
            <a:ext cx="4942379" cy="707886"/>
          </a:xfrm>
          <a:prstGeom prst="rect">
            <a:avLst/>
          </a:prstGeom>
          <a:noFill/>
        </p:spPr>
        <p:txBody>
          <a:bodyPr wrap="none" rtlCol="0">
            <a:spAutoFit/>
          </a:bodyPr>
          <a:lstStyle/>
          <a:p>
            <a:r>
              <a:rPr lang="es-ES" sz="2000" dirty="0">
                <a:solidFill>
                  <a:schemeClr val="bg1"/>
                </a:solidFill>
                <a:latin typeface="Arial" panose="020B0604020202020204" pitchFamily="34" charset="0"/>
                <a:ea typeface="Roboto" panose="02000000000000000000" pitchFamily="2" charset="0"/>
                <a:cs typeface="Arial" panose="020B0604020202020204" pitchFamily="34" charset="0"/>
              </a:rPr>
              <a:t>Proyecto final del curso de Programación </a:t>
            </a:r>
          </a:p>
          <a:p>
            <a:r>
              <a:rPr lang="es-ES" sz="2000" dirty="0">
                <a:solidFill>
                  <a:schemeClr val="bg1"/>
                </a:solidFill>
                <a:latin typeface="Arial" panose="020B0604020202020204" pitchFamily="34" charset="0"/>
                <a:ea typeface="Roboto" panose="02000000000000000000" pitchFamily="2" charset="0"/>
                <a:cs typeface="Arial" panose="020B0604020202020204" pitchFamily="34" charset="0"/>
              </a:rPr>
              <a:t>Nivel Explorador.</a:t>
            </a:r>
            <a:r>
              <a:rPr lang="en-US" sz="2000" dirty="0">
                <a:solidFill>
                  <a:schemeClr val="bg1"/>
                </a:solidFill>
                <a:latin typeface="Arial" panose="020B0604020202020204" pitchFamily="34" charset="0"/>
                <a:ea typeface="Roboto" panose="02000000000000000000" pitchFamily="2" charset="0"/>
                <a:cs typeface="Arial" panose="020B0604020202020204" pitchFamily="34" charset="0"/>
              </a:rPr>
              <a:t> </a:t>
            </a:r>
          </a:p>
        </p:txBody>
      </p:sp>
      <p:sp>
        <p:nvSpPr>
          <p:cNvPr id="11" name="TextBox 10">
            <a:extLst>
              <a:ext uri="{FF2B5EF4-FFF2-40B4-BE49-F238E27FC236}">
                <a16:creationId xmlns:a16="http://schemas.microsoft.com/office/drawing/2014/main" id="{D4E64793-6608-8EE6-0E92-288652D6CA7A}"/>
              </a:ext>
            </a:extLst>
          </p:cNvPr>
          <p:cNvSpPr txBox="1"/>
          <p:nvPr/>
        </p:nvSpPr>
        <p:spPr>
          <a:xfrm>
            <a:off x="893435" y="3628804"/>
            <a:ext cx="6081921" cy="1379865"/>
          </a:xfrm>
          <a:prstGeom prst="rect">
            <a:avLst/>
          </a:prstGeom>
          <a:noFill/>
          <a:ln>
            <a:noFill/>
          </a:ln>
        </p:spPr>
        <p:txBody>
          <a:bodyPr wrap="none" rtlCol="0">
            <a:spAutoFit/>
          </a:bodyPr>
          <a:lstStyle/>
          <a:p>
            <a:pPr marL="36000">
              <a:lnSpc>
                <a:spcPct val="150000"/>
              </a:lnSpc>
            </a:pPr>
            <a:r>
              <a:rPr lang="es-MX" sz="2000" dirty="0">
                <a:solidFill>
                  <a:schemeClr val="bg1"/>
                </a:solidFill>
                <a:latin typeface="Arial" panose="020B0604020202020204" pitchFamily="34" charset="0"/>
                <a:ea typeface="Roboto Black" panose="02000000000000000000" pitchFamily="2" charset="0"/>
                <a:cs typeface="Arial" panose="020B0604020202020204" pitchFamily="34" charset="0"/>
              </a:rPr>
              <a:t>Transformación del mercado eléctrico en Colombia.</a:t>
            </a:r>
          </a:p>
          <a:p>
            <a:pPr marL="36000">
              <a:lnSpc>
                <a:spcPct val="150000"/>
              </a:lnSpc>
            </a:pPr>
            <a:r>
              <a:rPr lang="es-MX" sz="2000" dirty="0">
                <a:solidFill>
                  <a:schemeClr val="bg1"/>
                </a:solidFill>
                <a:latin typeface="Arial" panose="020B0604020202020204" pitchFamily="34" charset="0"/>
                <a:ea typeface="Roboto Black" panose="02000000000000000000" pitchFamily="2" charset="0"/>
                <a:cs typeface="Arial" panose="020B0604020202020204" pitchFamily="34" charset="0"/>
              </a:rPr>
              <a:t>Energía Verde Sostenible con Equidad Social </a:t>
            </a:r>
          </a:p>
          <a:p>
            <a:pPr marL="36000">
              <a:lnSpc>
                <a:spcPct val="150000"/>
              </a:lnSpc>
            </a:pPr>
            <a:endParaRPr lang="en-US" b="1" dirty="0">
              <a:solidFill>
                <a:schemeClr val="bg1"/>
              </a:solidFill>
              <a:latin typeface="Arial" panose="020B0604020202020204" pitchFamily="34" charset="0"/>
              <a:ea typeface="Roboto Black" panose="02000000000000000000" pitchFamily="2" charset="0"/>
              <a:cs typeface="Arial" panose="020B0604020202020204" pitchFamily="34" charset="0"/>
            </a:endParaRPr>
          </a:p>
        </p:txBody>
      </p:sp>
      <p:pic>
        <p:nvPicPr>
          <p:cNvPr id="13" name="Graphic 12">
            <a:extLst>
              <a:ext uri="{FF2B5EF4-FFF2-40B4-BE49-F238E27FC236}">
                <a16:creationId xmlns:a16="http://schemas.microsoft.com/office/drawing/2014/main" id="{7B972161-FC61-E64E-5DBE-DC87A05D351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3435" y="3583085"/>
            <a:ext cx="2715709" cy="45719"/>
          </a:xfrm>
          <a:prstGeom prst="rect">
            <a:avLst/>
          </a:prstGeom>
        </p:spPr>
      </p:pic>
      <p:sp>
        <p:nvSpPr>
          <p:cNvPr id="2" name="TextBox 1">
            <a:extLst>
              <a:ext uri="{FF2B5EF4-FFF2-40B4-BE49-F238E27FC236}">
                <a16:creationId xmlns:a16="http://schemas.microsoft.com/office/drawing/2014/main" id="{ABE9174A-FF5A-E63E-004B-437E1EA7F83A}"/>
              </a:ext>
            </a:extLst>
          </p:cNvPr>
          <p:cNvSpPr txBox="1"/>
          <p:nvPr/>
        </p:nvSpPr>
        <p:spPr>
          <a:xfrm>
            <a:off x="893436" y="2295553"/>
            <a:ext cx="5981818" cy="1077218"/>
          </a:xfrm>
          <a:prstGeom prst="rect">
            <a:avLst/>
          </a:prstGeom>
          <a:noFill/>
          <a:ln>
            <a:noFill/>
          </a:ln>
        </p:spPr>
        <p:txBody>
          <a:bodyPr wrap="square" rtlCol="0">
            <a:spAutoFit/>
          </a:bodyPr>
          <a:lstStyle/>
          <a:p>
            <a:r>
              <a:rPr lang="es-ES" sz="3200" b="1" dirty="0">
                <a:solidFill>
                  <a:schemeClr val="bg1"/>
                </a:solidFill>
                <a:latin typeface="Arial" panose="020B0604020202020204" pitchFamily="34" charset="0"/>
                <a:ea typeface="Roboto Black" panose="02000000000000000000" pitchFamily="2" charset="0"/>
                <a:cs typeface="Arial" panose="020B0604020202020204" pitchFamily="34" charset="0"/>
              </a:rPr>
              <a:t>EQUIVATIA: Marketplace Inteligencia de </a:t>
            </a:r>
            <a:r>
              <a:rPr lang="es-ES" sz="3200" b="1" dirty="0" err="1">
                <a:solidFill>
                  <a:schemeClr val="bg1"/>
                </a:solidFill>
                <a:latin typeface="Arial" panose="020B0604020202020204" pitchFamily="34" charset="0"/>
                <a:ea typeface="Roboto Black" panose="02000000000000000000" pitchFamily="2" charset="0"/>
                <a:cs typeface="Arial" panose="020B0604020202020204" pitchFamily="34" charset="0"/>
              </a:rPr>
              <a:t>Energia</a:t>
            </a:r>
            <a:r>
              <a:rPr lang="es-ES" sz="3200" b="1" dirty="0">
                <a:solidFill>
                  <a:schemeClr val="bg1"/>
                </a:solidFill>
                <a:latin typeface="Arial" panose="020B0604020202020204" pitchFamily="34" charset="0"/>
                <a:ea typeface="Roboto Black" panose="02000000000000000000" pitchFamily="2" charset="0"/>
                <a:cs typeface="Arial" panose="020B0604020202020204" pitchFamily="34" charset="0"/>
              </a:rPr>
              <a:t> P2P</a:t>
            </a:r>
            <a:endParaRPr lang="en-US" sz="3200" b="1" dirty="0">
              <a:solidFill>
                <a:schemeClr val="bg1"/>
              </a:solidFill>
              <a:latin typeface="Arial" panose="020B0604020202020204" pitchFamily="34" charset="0"/>
              <a:ea typeface="Roboto Black" panose="02000000000000000000" pitchFamily="2" charset="0"/>
              <a:cs typeface="Arial" panose="020B0604020202020204" pitchFamily="34" charset="0"/>
            </a:endParaRPr>
          </a:p>
        </p:txBody>
      </p:sp>
    </p:spTree>
    <p:custDataLst>
      <p:tags r:id="rId1"/>
    </p:custDataLst>
    <p:extLst>
      <p:ext uri="{BB962C8B-B14F-4D97-AF65-F5344CB8AC3E}">
        <p14:creationId xmlns:p14="http://schemas.microsoft.com/office/powerpoint/2010/main" val="1956282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FC2DA7B-E466-2533-7FD0-4C7517D22C3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68CBBE1A-3BA1-4CAA-957F-4AE1F849190C}"/>
              </a:ext>
            </a:extLst>
          </p:cNvPr>
          <p:cNvSpPr txBox="1"/>
          <p:nvPr/>
        </p:nvSpPr>
        <p:spPr>
          <a:xfrm>
            <a:off x="2095899" y="5306633"/>
            <a:ext cx="7791036" cy="800219"/>
          </a:xfrm>
          <a:prstGeom prst="rect">
            <a:avLst/>
          </a:prstGeom>
          <a:noFill/>
        </p:spPr>
        <p:txBody>
          <a:bodyPr wrap="square" rtlCol="0">
            <a:spAutoFit/>
          </a:bodyPr>
          <a:lstStyle/>
          <a:p>
            <a:pPr marL="2103120" marR="62865" indent="-2032000" algn="ctr"/>
            <a:r>
              <a:rPr lang="es-ES" sz="2800" b="1" dirty="0">
                <a:effectLst/>
                <a:latin typeface="Arial" panose="020B0604020202020204" pitchFamily="34" charset="0"/>
                <a:ea typeface="Calibri" panose="020F0502020204030204" pitchFamily="34" charset="0"/>
                <a:cs typeface="Arial" panose="020B0604020202020204" pitchFamily="34" charset="0"/>
              </a:rPr>
              <a:t>Marketplace Inteligencia de Energía P2P</a:t>
            </a:r>
            <a:endParaRPr lang="es-CO" sz="2800" b="1" dirty="0">
              <a:effectLst/>
              <a:latin typeface="Arial" panose="020B0604020202020204" pitchFamily="34" charset="0"/>
              <a:ea typeface="Calibri" panose="020F0502020204030204" pitchFamily="34" charset="0"/>
              <a:cs typeface="Arial" panose="020B0604020202020204" pitchFamily="34" charset="0"/>
            </a:endParaRPr>
          </a:p>
          <a:p>
            <a:pPr marL="2103120" marR="62865" indent="-2032000">
              <a:spcAft>
                <a:spcPts val="0"/>
              </a:spcAft>
            </a:pPr>
            <a:endParaRPr lang="es-CO" sz="1800" dirty="0">
              <a:effectLst/>
              <a:latin typeface="Calibri" panose="020F0502020204030204" pitchFamily="34" charset="0"/>
              <a:ea typeface="Calibri" panose="020F0502020204030204" pitchFamily="34" charset="0"/>
            </a:endParaRPr>
          </a:p>
        </p:txBody>
      </p:sp>
      <p:sp>
        <p:nvSpPr>
          <p:cNvPr id="4" name="CuadroTexto 3">
            <a:extLst>
              <a:ext uri="{FF2B5EF4-FFF2-40B4-BE49-F238E27FC236}">
                <a16:creationId xmlns:a16="http://schemas.microsoft.com/office/drawing/2014/main" id="{7F9EAC25-1C67-465B-88BC-75192499A8ED}"/>
              </a:ext>
            </a:extLst>
          </p:cNvPr>
          <p:cNvSpPr txBox="1"/>
          <p:nvPr/>
        </p:nvSpPr>
        <p:spPr>
          <a:xfrm>
            <a:off x="520700" y="2298700"/>
            <a:ext cx="3797300" cy="369332"/>
          </a:xfrm>
          <a:prstGeom prst="rect">
            <a:avLst/>
          </a:prstGeom>
          <a:noFill/>
        </p:spPr>
        <p:txBody>
          <a:bodyPr wrap="square" rtlCol="0">
            <a:spAutoFit/>
          </a:bodyPr>
          <a:lstStyle/>
          <a:p>
            <a:r>
              <a:rPr lang="es-ES" dirty="0"/>
              <a:t>.</a:t>
            </a:r>
            <a:endParaRPr lang="es-CO" dirty="0"/>
          </a:p>
        </p:txBody>
      </p:sp>
      <p:sp>
        <p:nvSpPr>
          <p:cNvPr id="7" name="AutoShape 2" descr="blob:https://web.whatsapp.com/2578f76a-eea3-4093-b34f-bfe0bc27529e">
            <a:extLst>
              <a:ext uri="{FF2B5EF4-FFF2-40B4-BE49-F238E27FC236}">
                <a16:creationId xmlns:a16="http://schemas.microsoft.com/office/drawing/2014/main" id="{BB22C221-0C52-4C9A-8E8F-87480518D9A2}"/>
              </a:ext>
            </a:extLst>
          </p:cNvPr>
          <p:cNvSpPr>
            <a:spLocks noChangeAspect="1" noChangeArrowheads="1"/>
          </p:cNvSpPr>
          <p:nvPr/>
        </p:nvSpPr>
        <p:spPr bwMode="auto">
          <a:xfrm>
            <a:off x="6807200" y="300956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O"/>
          </a:p>
        </p:txBody>
      </p:sp>
      <p:pic>
        <p:nvPicPr>
          <p:cNvPr id="8" name="Imagen 7">
            <a:extLst>
              <a:ext uri="{FF2B5EF4-FFF2-40B4-BE49-F238E27FC236}">
                <a16:creationId xmlns:a16="http://schemas.microsoft.com/office/drawing/2014/main" id="{DAA763D9-34C2-4670-81C8-784572E431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8297" y="589935"/>
            <a:ext cx="8377084" cy="4503841"/>
          </a:xfrm>
          <a:prstGeom prst="ellipse">
            <a:avLst/>
          </a:prstGeom>
          <a:ln>
            <a:noFill/>
          </a:ln>
          <a:effectLst>
            <a:softEdge rad="112500"/>
          </a:effectLst>
        </p:spPr>
      </p:pic>
    </p:spTree>
    <p:custDataLst>
      <p:tags r:id="rId1"/>
    </p:custDataLst>
    <p:extLst>
      <p:ext uri="{BB962C8B-B14F-4D97-AF65-F5344CB8AC3E}">
        <p14:creationId xmlns:p14="http://schemas.microsoft.com/office/powerpoint/2010/main" val="4034352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AF2DF-DA57-93DB-D07B-980B5319D8E7}"/>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35C4E73-6F6E-88B7-D1DC-C91A1B5975E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uadroTexto 3">
            <a:extLst>
              <a:ext uri="{FF2B5EF4-FFF2-40B4-BE49-F238E27FC236}">
                <a16:creationId xmlns:a16="http://schemas.microsoft.com/office/drawing/2014/main" id="{A6E34FEC-5740-412E-91F9-8F1B4D92B0D0}"/>
              </a:ext>
            </a:extLst>
          </p:cNvPr>
          <p:cNvSpPr txBox="1"/>
          <p:nvPr/>
        </p:nvSpPr>
        <p:spPr>
          <a:xfrm>
            <a:off x="3795410" y="1263048"/>
            <a:ext cx="4601180" cy="1846659"/>
          </a:xfrm>
          <a:prstGeom prst="rect">
            <a:avLst/>
          </a:prstGeom>
          <a:noFill/>
        </p:spPr>
        <p:txBody>
          <a:bodyPr wrap="square" rtlCol="0">
            <a:spAutoFit/>
          </a:bodyPr>
          <a:lstStyle/>
          <a:p>
            <a:pPr marL="2103120" marR="62865" indent="-2032000" algn="ctr"/>
            <a:r>
              <a:rPr lang="es-ES" sz="3000" b="1" dirty="0">
                <a:latin typeface="Arial" panose="020B0604020202020204" pitchFamily="34" charset="0"/>
                <a:ea typeface="Calibri" panose="020F0502020204030204" pitchFamily="34" charset="0"/>
                <a:cs typeface="Arial" panose="020B0604020202020204" pitchFamily="34" charset="0"/>
              </a:rPr>
              <a:t>VISIÓN ESTRATÉGICA</a:t>
            </a:r>
          </a:p>
          <a:p>
            <a:pPr marL="2103120" marR="62865" indent="-2032000" algn="ctr"/>
            <a:endParaRPr lang="es-ES" sz="3400" dirty="0">
              <a:effectLst/>
              <a:latin typeface="Arial" panose="020B0604020202020204" pitchFamily="34" charset="0"/>
              <a:ea typeface="Calibri" panose="020F0502020204030204" pitchFamily="34" charset="0"/>
              <a:cs typeface="Arial" panose="020B0604020202020204" pitchFamily="34" charset="0"/>
            </a:endParaRPr>
          </a:p>
          <a:p>
            <a:pPr marL="2103120" marR="62865" indent="-2032000" algn="ctr"/>
            <a:endParaRPr lang="es-ES" sz="1600" b="1" dirty="0">
              <a:latin typeface="Bodoni MT Condensed" panose="02070606080606020203" pitchFamily="18" charset="0"/>
              <a:ea typeface="Calibri" panose="020F0502020204030204" pitchFamily="34" charset="0"/>
              <a:cs typeface="Times New Roman" panose="02020603050405020304" pitchFamily="18" charset="0"/>
            </a:endParaRPr>
          </a:p>
          <a:p>
            <a:pPr marL="2103120" marR="62865" indent="-2032000" algn="ctr"/>
            <a:endParaRPr lang="es-ES" sz="1600" b="1" dirty="0">
              <a:effectLst/>
              <a:latin typeface="Bodoni MT Condensed" panose="02070606080606020203" pitchFamily="18" charset="0"/>
              <a:ea typeface="Calibri" panose="020F0502020204030204" pitchFamily="34" charset="0"/>
              <a:cs typeface="Times New Roman" panose="02020603050405020304" pitchFamily="18" charset="0"/>
            </a:endParaRPr>
          </a:p>
          <a:p>
            <a:pPr marL="2103120" marR="62865" indent="-2032000">
              <a:spcAft>
                <a:spcPts val="0"/>
              </a:spcAft>
            </a:pPr>
            <a:endParaRPr lang="es-CO" sz="1800" dirty="0">
              <a:effectLst/>
              <a:latin typeface="Calibri" panose="020F0502020204030204" pitchFamily="34" charset="0"/>
              <a:ea typeface="Calibri" panose="020F0502020204030204" pitchFamily="34" charset="0"/>
            </a:endParaRPr>
          </a:p>
        </p:txBody>
      </p:sp>
      <p:sp>
        <p:nvSpPr>
          <p:cNvPr id="9" name="CuadroTexto 8">
            <a:extLst>
              <a:ext uri="{FF2B5EF4-FFF2-40B4-BE49-F238E27FC236}">
                <a16:creationId xmlns:a16="http://schemas.microsoft.com/office/drawing/2014/main" id="{887F6E3B-E117-4237-B67C-8195BE98099F}"/>
              </a:ext>
            </a:extLst>
          </p:cNvPr>
          <p:cNvSpPr txBox="1"/>
          <p:nvPr/>
        </p:nvSpPr>
        <p:spPr>
          <a:xfrm>
            <a:off x="3029310" y="2022377"/>
            <a:ext cx="6036836" cy="1261884"/>
          </a:xfrm>
          <a:prstGeom prst="rect">
            <a:avLst/>
          </a:prstGeom>
          <a:noFill/>
        </p:spPr>
        <p:txBody>
          <a:bodyPr wrap="square">
            <a:spAutoFit/>
          </a:bodyPr>
          <a:lstStyle/>
          <a:p>
            <a:pPr algn="ctr"/>
            <a:r>
              <a:rPr lang="es-MX" sz="3200" b="1" dirty="0">
                <a:effectLst/>
                <a:latin typeface="Arial" panose="020B0604020202020204" pitchFamily="34" charset="0"/>
                <a:ea typeface="Calibri" panose="020F0502020204030204" pitchFamily="34" charset="0"/>
                <a:cs typeface="Arial" panose="020B0604020202020204" pitchFamily="34" charset="0"/>
              </a:rPr>
              <a:t>Transformación Estratégica</a:t>
            </a:r>
          </a:p>
          <a:p>
            <a:pPr algn="ctr"/>
            <a:r>
              <a:rPr lang="es-MX" sz="2400" dirty="0">
                <a:effectLst/>
                <a:latin typeface="Arial" panose="020B0604020202020204" pitchFamily="34" charset="0"/>
                <a:ea typeface="Calibri" panose="020F0502020204030204" pitchFamily="34" charset="0"/>
                <a:cs typeface="Arial" panose="020B0604020202020204" pitchFamily="34" charset="0"/>
              </a:rPr>
              <a:t> </a:t>
            </a:r>
          </a:p>
          <a:p>
            <a:pPr algn="ctr"/>
            <a:endParaRPr lang="es-MX" sz="2000" b="1" i="0" dirty="0">
              <a:solidFill>
                <a:srgbClr val="1E293B"/>
              </a:solidFill>
              <a:effectLst/>
              <a:latin typeface="Nunito Sans" panose="020B0604020202020204" pitchFamily="2" charset="0"/>
            </a:endParaRPr>
          </a:p>
        </p:txBody>
      </p:sp>
      <p:sp>
        <p:nvSpPr>
          <p:cNvPr id="7" name="CuadroTexto 6">
            <a:extLst>
              <a:ext uri="{FF2B5EF4-FFF2-40B4-BE49-F238E27FC236}">
                <a16:creationId xmlns:a16="http://schemas.microsoft.com/office/drawing/2014/main" id="{92947B9C-EC0F-4979-991F-485D7645E454}"/>
              </a:ext>
            </a:extLst>
          </p:cNvPr>
          <p:cNvSpPr txBox="1"/>
          <p:nvPr/>
        </p:nvSpPr>
        <p:spPr>
          <a:xfrm>
            <a:off x="2932766" y="5254467"/>
            <a:ext cx="6133380" cy="369332"/>
          </a:xfrm>
          <a:prstGeom prst="rect">
            <a:avLst/>
          </a:prstGeom>
          <a:noFill/>
        </p:spPr>
        <p:txBody>
          <a:bodyPr wrap="square">
            <a:spAutoFit/>
          </a:bodyPr>
          <a:lstStyle/>
          <a:p>
            <a:pPr algn="ctr"/>
            <a:r>
              <a:rPr lang="es-MX" sz="1800" b="0" i="1" dirty="0">
                <a:solidFill>
                  <a:srgbClr val="475569"/>
                </a:solidFill>
                <a:effectLst/>
                <a:latin typeface="Nunito Sans" panose="020B0604020202020204" pitchFamily="2" charset="0"/>
              </a:rPr>
              <a:t>Hacia una Colombia Potencia Energética Mundial</a:t>
            </a:r>
          </a:p>
        </p:txBody>
      </p:sp>
      <p:sp>
        <p:nvSpPr>
          <p:cNvPr id="8" name="CuadroTexto 7">
            <a:extLst>
              <a:ext uri="{FF2B5EF4-FFF2-40B4-BE49-F238E27FC236}">
                <a16:creationId xmlns:a16="http://schemas.microsoft.com/office/drawing/2014/main" id="{B9FF7070-C0F5-4189-B6C2-DCAB242CB110}"/>
              </a:ext>
            </a:extLst>
          </p:cNvPr>
          <p:cNvSpPr txBox="1"/>
          <p:nvPr/>
        </p:nvSpPr>
        <p:spPr>
          <a:xfrm>
            <a:off x="1429003" y="2493935"/>
            <a:ext cx="6133380" cy="553998"/>
          </a:xfrm>
          <a:prstGeom prst="rect">
            <a:avLst/>
          </a:prstGeom>
          <a:noFill/>
        </p:spPr>
        <p:txBody>
          <a:bodyPr wrap="square">
            <a:spAutoFit/>
          </a:bodyPr>
          <a:lstStyle/>
          <a:p>
            <a:pPr algn="ctr"/>
            <a:r>
              <a:rPr lang="es-MX" sz="3000" b="1" i="0" dirty="0">
                <a:solidFill>
                  <a:srgbClr val="1E293B"/>
                </a:solidFill>
                <a:effectLst/>
                <a:latin typeface="Nunito Sans" panose="020B0604020202020204" pitchFamily="2" charset="0"/>
              </a:rPr>
              <a:t>             con Equidad Social  </a:t>
            </a:r>
          </a:p>
        </p:txBody>
      </p:sp>
      <p:cxnSp>
        <p:nvCxnSpPr>
          <p:cNvPr id="10" name="Conector recto 9">
            <a:extLst>
              <a:ext uri="{FF2B5EF4-FFF2-40B4-BE49-F238E27FC236}">
                <a16:creationId xmlns:a16="http://schemas.microsoft.com/office/drawing/2014/main" id="{A29BE9F9-D52A-4BA1-86A2-C1132824CE6F}"/>
              </a:ext>
            </a:extLst>
          </p:cNvPr>
          <p:cNvCxnSpPr>
            <a:cxnSpLocks/>
          </p:cNvCxnSpPr>
          <p:nvPr/>
        </p:nvCxnSpPr>
        <p:spPr>
          <a:xfrm flipV="1">
            <a:off x="4356339" y="5018139"/>
            <a:ext cx="3036498" cy="826"/>
          </a:xfrm>
          <a:prstGeom prst="line">
            <a:avLst/>
          </a:prstGeom>
          <a:ln>
            <a:solidFill>
              <a:schemeClr val="tx2">
                <a:lumMod val="90000"/>
                <a:lumOff val="10000"/>
              </a:schemeClr>
            </a:solidFill>
          </a:ln>
        </p:spPr>
        <p:style>
          <a:lnRef idx="1">
            <a:schemeClr val="accent1"/>
          </a:lnRef>
          <a:fillRef idx="0">
            <a:schemeClr val="accent1"/>
          </a:fillRef>
          <a:effectRef idx="0">
            <a:schemeClr val="accent1"/>
          </a:effectRef>
          <a:fontRef idx="minor">
            <a:schemeClr val="tx1"/>
          </a:fontRef>
        </p:style>
      </p:cxnSp>
      <p:pic>
        <p:nvPicPr>
          <p:cNvPr id="17" name="Imagen 16">
            <a:extLst>
              <a:ext uri="{FF2B5EF4-FFF2-40B4-BE49-F238E27FC236}">
                <a16:creationId xmlns:a16="http://schemas.microsoft.com/office/drawing/2014/main" id="{8BBA5181-E93A-417E-B359-1071E237661D}"/>
              </a:ext>
            </a:extLst>
          </p:cNvPr>
          <p:cNvPicPr>
            <a:picLocks noChangeAspect="1"/>
          </p:cNvPicPr>
          <p:nvPr/>
        </p:nvPicPr>
        <p:blipFill>
          <a:blip r:embed="rId4"/>
          <a:stretch>
            <a:fillRect/>
          </a:stretch>
        </p:blipFill>
        <p:spPr>
          <a:xfrm>
            <a:off x="4996751" y="3197293"/>
            <a:ext cx="1755673" cy="1755673"/>
          </a:xfrm>
          <a:prstGeom prst="rect">
            <a:avLst/>
          </a:prstGeom>
        </p:spPr>
      </p:pic>
    </p:spTree>
    <p:custDataLst>
      <p:tags r:id="rId1"/>
    </p:custDataLst>
    <p:extLst>
      <p:ext uri="{BB962C8B-B14F-4D97-AF65-F5344CB8AC3E}">
        <p14:creationId xmlns:p14="http://schemas.microsoft.com/office/powerpoint/2010/main" val="55618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FE67-4F5E-0909-9C28-EB473BE9A32D}"/>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44E1B251-CEDE-72F4-F613-FF70BF87AC2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Imagen 8">
            <a:extLst>
              <a:ext uri="{FF2B5EF4-FFF2-40B4-BE49-F238E27FC236}">
                <a16:creationId xmlns:a16="http://schemas.microsoft.com/office/drawing/2014/main" id="{B185423E-7399-4104-8402-3E7F3BB4FC1D}"/>
              </a:ext>
            </a:extLst>
          </p:cNvPr>
          <p:cNvPicPr>
            <a:picLocks noChangeAspect="1"/>
          </p:cNvPicPr>
          <p:nvPr/>
        </p:nvPicPr>
        <p:blipFill>
          <a:blip r:embed="rId4"/>
          <a:stretch>
            <a:fillRect/>
          </a:stretch>
        </p:blipFill>
        <p:spPr>
          <a:xfrm>
            <a:off x="1120876" y="363921"/>
            <a:ext cx="10009239" cy="5851849"/>
          </a:xfrm>
          <a:prstGeom prst="rect">
            <a:avLst/>
          </a:prstGeom>
        </p:spPr>
      </p:pic>
    </p:spTree>
    <p:custDataLst>
      <p:tags r:id="rId1"/>
    </p:custDataLst>
    <p:extLst>
      <p:ext uri="{BB962C8B-B14F-4D97-AF65-F5344CB8AC3E}">
        <p14:creationId xmlns:p14="http://schemas.microsoft.com/office/powerpoint/2010/main" val="3329013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FE67-4F5E-0909-9C28-EB473BE9A32D}"/>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44E1B251-CEDE-72F4-F613-FF70BF87AC2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Imagen 2">
            <a:extLst>
              <a:ext uri="{FF2B5EF4-FFF2-40B4-BE49-F238E27FC236}">
                <a16:creationId xmlns:a16="http://schemas.microsoft.com/office/drawing/2014/main" id="{B7B017CC-A4AC-4C8E-85B9-21B09F7D6F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43664" y="829107"/>
            <a:ext cx="10245213" cy="5421011"/>
          </a:xfrm>
          <a:prstGeom prst="rect">
            <a:avLst/>
          </a:prstGeom>
        </p:spPr>
      </p:pic>
      <p:sp>
        <p:nvSpPr>
          <p:cNvPr id="4" name="CuadroTexto 3">
            <a:extLst>
              <a:ext uri="{FF2B5EF4-FFF2-40B4-BE49-F238E27FC236}">
                <a16:creationId xmlns:a16="http://schemas.microsoft.com/office/drawing/2014/main" id="{3AD56379-320D-476A-86BE-8D6853B7742A}"/>
              </a:ext>
            </a:extLst>
          </p:cNvPr>
          <p:cNvSpPr txBox="1"/>
          <p:nvPr/>
        </p:nvSpPr>
        <p:spPr>
          <a:xfrm>
            <a:off x="2349909" y="4288718"/>
            <a:ext cx="3529781" cy="1954381"/>
          </a:xfrm>
          <a:prstGeom prst="rect">
            <a:avLst/>
          </a:prstGeom>
          <a:solidFill>
            <a:schemeClr val="bg1"/>
          </a:solidFill>
        </p:spPr>
        <p:txBody>
          <a:bodyPr wrap="square" rtlCol="0">
            <a:spAutoFit/>
          </a:bodyPr>
          <a:lstStyle/>
          <a:p>
            <a:pPr algn="ctr"/>
            <a:r>
              <a:rPr lang="es-MX" sz="1700" b="1" dirty="0"/>
              <a:t>El Agotamiento del Modelo Antiguo</a:t>
            </a:r>
          </a:p>
          <a:p>
            <a:pPr algn="ctr"/>
            <a:endParaRPr lang="es-MX" dirty="0"/>
          </a:p>
          <a:p>
            <a:pPr algn="ctr"/>
            <a:r>
              <a:rPr lang="es-MX" sz="1400" dirty="0"/>
              <a:t>La dependencia histórica a hidrocarburos y sistemas centralizados perpetúa la inequidad social, concentra el poder en grandes operadores y acelera el daño atmosférico.</a:t>
            </a:r>
          </a:p>
          <a:p>
            <a:pPr algn="ctr"/>
            <a:endParaRPr lang="es-MX" sz="1200" dirty="0"/>
          </a:p>
          <a:p>
            <a:endParaRPr lang="es-CO" dirty="0"/>
          </a:p>
        </p:txBody>
      </p:sp>
      <p:sp>
        <p:nvSpPr>
          <p:cNvPr id="11" name="CuadroTexto 10">
            <a:extLst>
              <a:ext uri="{FF2B5EF4-FFF2-40B4-BE49-F238E27FC236}">
                <a16:creationId xmlns:a16="http://schemas.microsoft.com/office/drawing/2014/main" id="{3535DC0E-0637-402A-B64F-86DD8FF3CA83}"/>
              </a:ext>
            </a:extLst>
          </p:cNvPr>
          <p:cNvSpPr txBox="1"/>
          <p:nvPr/>
        </p:nvSpPr>
        <p:spPr>
          <a:xfrm>
            <a:off x="7216877" y="4270514"/>
            <a:ext cx="3903405" cy="1969770"/>
          </a:xfrm>
          <a:prstGeom prst="rect">
            <a:avLst/>
          </a:prstGeom>
          <a:solidFill>
            <a:schemeClr val="bg1"/>
          </a:solidFill>
        </p:spPr>
        <p:txBody>
          <a:bodyPr wrap="square" rtlCol="0">
            <a:spAutoFit/>
          </a:bodyPr>
          <a:lstStyle/>
          <a:p>
            <a:pPr algn="ctr"/>
            <a:endParaRPr lang="es-MX" sz="1200" dirty="0"/>
          </a:p>
          <a:p>
            <a:pPr algn="ctr"/>
            <a:r>
              <a:rPr lang="es-CO" b="1" dirty="0"/>
              <a:t>El Imperativo de la Descentralización</a:t>
            </a:r>
          </a:p>
          <a:p>
            <a:pPr algn="ctr"/>
            <a:endParaRPr lang="es-CO" b="1" dirty="0"/>
          </a:p>
          <a:p>
            <a:r>
              <a:rPr lang="es-CO" sz="1400" dirty="0"/>
              <a:t>Buscar alternativas limpias ha dejado de ser una mera opción tecnológica. Es un imperativo político y de justicia social para democratizar el acceso y asegurar la resiliencia comunitaria.</a:t>
            </a:r>
          </a:p>
          <a:p>
            <a:endParaRPr lang="es-CO" dirty="0"/>
          </a:p>
        </p:txBody>
      </p:sp>
    </p:spTree>
    <p:custDataLst>
      <p:tags r:id="rId1"/>
    </p:custDataLst>
    <p:extLst>
      <p:ext uri="{BB962C8B-B14F-4D97-AF65-F5344CB8AC3E}">
        <p14:creationId xmlns:p14="http://schemas.microsoft.com/office/powerpoint/2010/main" val="2891082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FE67-4F5E-0909-9C28-EB473BE9A32D}"/>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44E1B251-CEDE-72F4-F613-FF70BF87AC2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2C1E3DBD-1757-E5D1-BE51-98E58E6B8425}"/>
              </a:ext>
            </a:extLst>
          </p:cNvPr>
          <p:cNvSpPr txBox="1"/>
          <p:nvPr/>
        </p:nvSpPr>
        <p:spPr>
          <a:xfrm>
            <a:off x="3005124" y="178426"/>
            <a:ext cx="6094638" cy="369332"/>
          </a:xfrm>
          <a:prstGeom prst="rect">
            <a:avLst/>
          </a:prstGeom>
          <a:noFill/>
        </p:spPr>
        <p:txBody>
          <a:bodyPr wrap="square">
            <a:spAutoFit/>
          </a:bodyPr>
          <a:lstStyle/>
          <a:p>
            <a:pPr algn="ctr"/>
            <a:r>
              <a:rPr lang="es-E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objetivo general y objetivos específicos </a:t>
            </a:r>
            <a:endParaRPr lang="es-CO" dirty="0">
              <a:solidFill>
                <a:srgbClr val="A08EF1"/>
              </a:solidFill>
            </a:endParaRPr>
          </a:p>
        </p:txBody>
      </p:sp>
      <p:sp>
        <p:nvSpPr>
          <p:cNvPr id="5" name="Rectángulo 4">
            <a:extLst>
              <a:ext uri="{FF2B5EF4-FFF2-40B4-BE49-F238E27FC236}">
                <a16:creationId xmlns:a16="http://schemas.microsoft.com/office/drawing/2014/main" id="{11897B3D-C775-45C6-AEB1-562DED70509C}"/>
              </a:ext>
            </a:extLst>
          </p:cNvPr>
          <p:cNvSpPr/>
          <p:nvPr/>
        </p:nvSpPr>
        <p:spPr>
          <a:xfrm>
            <a:off x="893342" y="1134501"/>
            <a:ext cx="5379638" cy="3631763"/>
          </a:xfrm>
          <a:prstGeom prst="rect">
            <a:avLst/>
          </a:prstGeom>
        </p:spPr>
        <p:txBody>
          <a:bodyPr wrap="square">
            <a:spAutoFit/>
          </a:bodyPr>
          <a:lstStyle/>
          <a:p>
            <a:pPr algn="just"/>
            <a:endParaRPr lang="es-ES" b="1" dirty="0">
              <a:latin typeface="Arial" panose="020B0604020202020204" pitchFamily="34" charset="0"/>
              <a:cs typeface="Arial" panose="020B0604020202020204" pitchFamily="34" charset="0"/>
            </a:endParaRPr>
          </a:p>
          <a:p>
            <a:pPr algn="just"/>
            <a:r>
              <a:rPr lang="es-CO" sz="1600" dirty="0">
                <a:effectLst/>
                <a:latin typeface="Arial" panose="020B0604020202020204" pitchFamily="34" charset="0"/>
                <a:ea typeface="Calibri" panose="020F0502020204030204" pitchFamily="34" charset="0"/>
                <a:cs typeface="Arial" panose="020B0604020202020204" pitchFamily="34" charset="0"/>
              </a:rPr>
              <a:t>Desarrollar y establecer una plataforma digital descentralizada que permita a los productores y consumidores finales intercambiar energía renovable y excedentes, directamente entre sí, sin intermediarios.</a:t>
            </a:r>
          </a:p>
          <a:p>
            <a:pPr algn="just"/>
            <a:endParaRPr lang="es-CO" sz="1600" dirty="0">
              <a:effectLst/>
              <a:latin typeface="Arial" panose="020B0604020202020204" pitchFamily="34" charset="0"/>
              <a:ea typeface="Calibri" panose="020F0502020204030204" pitchFamily="34" charset="0"/>
              <a:cs typeface="Arial" panose="020B0604020202020204" pitchFamily="34" charset="0"/>
            </a:endParaRPr>
          </a:p>
          <a:p>
            <a:pPr algn="just"/>
            <a:r>
              <a:rPr lang="es-MX" sz="1600" dirty="0">
                <a:effectLst/>
                <a:latin typeface="Arial" panose="020B0604020202020204" pitchFamily="34" charset="0"/>
                <a:ea typeface="Calibri" panose="020F0502020204030204" pitchFamily="34" charset="0"/>
                <a:cs typeface="Arial" panose="020B0604020202020204" pitchFamily="34" charset="0"/>
              </a:rPr>
              <a:t>Transformar el modelo energético colombiano y regional, promoviendo la democratización del consumo, la justicia energética y la participación ciudadana, como instrumentos estratégicos para enfrentar el desafío global de la transición energética justa.</a:t>
            </a:r>
            <a:endParaRPr lang="es-CO" sz="16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CO" sz="1600" dirty="0">
              <a:effectLst/>
              <a:latin typeface="Arial" panose="020B0604020202020204" pitchFamily="34" charset="0"/>
              <a:ea typeface="Calibri" panose="020F0502020204030204" pitchFamily="34" charset="0"/>
              <a:cs typeface="Arial" panose="020B0604020202020204" pitchFamily="34" charset="0"/>
            </a:endParaRPr>
          </a:p>
          <a:p>
            <a:pPr algn="just"/>
            <a:endParaRPr lang="es-CO" sz="1800" dirty="0">
              <a:effectLst/>
              <a:latin typeface="Arial" panose="020B0604020202020204" pitchFamily="34" charset="0"/>
              <a:ea typeface="Calibri" panose="020F050202020403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322748D9-0226-4C25-8243-B9A5BADFD264}"/>
              </a:ext>
            </a:extLst>
          </p:cNvPr>
          <p:cNvSpPr txBox="1"/>
          <p:nvPr/>
        </p:nvSpPr>
        <p:spPr>
          <a:xfrm>
            <a:off x="893343" y="1035984"/>
            <a:ext cx="3786811" cy="430887"/>
          </a:xfrm>
          <a:prstGeom prst="rect">
            <a:avLst/>
          </a:prstGeom>
          <a:noFill/>
        </p:spPr>
        <p:txBody>
          <a:bodyPr wrap="square">
            <a:spAutoFit/>
          </a:bodyPr>
          <a:lstStyle/>
          <a:p>
            <a:r>
              <a:rPr lang="es-ES" sz="2200" b="1" dirty="0">
                <a:latin typeface="Arial" panose="020B0604020202020204" pitchFamily="34" charset="0"/>
                <a:cs typeface="Arial" panose="020B0604020202020204" pitchFamily="34" charset="0"/>
              </a:rPr>
              <a:t>OBJETIVO GENERAL</a:t>
            </a:r>
            <a:r>
              <a:rPr lang="es-ES" sz="1800" b="1" dirty="0">
                <a:latin typeface="Arial" panose="020B0604020202020204" pitchFamily="34" charset="0"/>
                <a:cs typeface="Arial" panose="020B0604020202020204" pitchFamily="34" charset="0"/>
              </a:rPr>
              <a:t>:</a:t>
            </a:r>
          </a:p>
        </p:txBody>
      </p:sp>
      <p:sp>
        <p:nvSpPr>
          <p:cNvPr id="11" name="CuadroTexto 10">
            <a:extLst>
              <a:ext uri="{FF2B5EF4-FFF2-40B4-BE49-F238E27FC236}">
                <a16:creationId xmlns:a16="http://schemas.microsoft.com/office/drawing/2014/main" id="{12BDC906-1281-4704-B92D-CE52532FA0CC}"/>
              </a:ext>
            </a:extLst>
          </p:cNvPr>
          <p:cNvSpPr txBox="1"/>
          <p:nvPr/>
        </p:nvSpPr>
        <p:spPr>
          <a:xfrm>
            <a:off x="893342" y="4102198"/>
            <a:ext cx="6135328" cy="646331"/>
          </a:xfrm>
          <a:prstGeom prst="rect">
            <a:avLst/>
          </a:prstGeom>
          <a:noFill/>
        </p:spPr>
        <p:txBody>
          <a:bodyPr wrap="square">
            <a:spAutoFit/>
          </a:bodyPr>
          <a:lstStyle/>
          <a:p>
            <a:r>
              <a:rPr lang="es-ES" sz="1800" b="1" dirty="0">
                <a:latin typeface="Arial" panose="020B0604020202020204" pitchFamily="34" charset="0"/>
                <a:cs typeface="Arial" panose="020B0604020202020204" pitchFamily="34" charset="0"/>
              </a:rPr>
              <a:t>OBJETIVO ESPECIFICO:</a:t>
            </a:r>
          </a:p>
          <a:p>
            <a:endParaRPr lang="es-CO" dirty="0"/>
          </a:p>
        </p:txBody>
      </p:sp>
      <p:sp>
        <p:nvSpPr>
          <p:cNvPr id="12" name="CuadroTexto 11">
            <a:extLst>
              <a:ext uri="{FF2B5EF4-FFF2-40B4-BE49-F238E27FC236}">
                <a16:creationId xmlns:a16="http://schemas.microsoft.com/office/drawing/2014/main" id="{25527308-2607-4782-B7DB-FD0741FB79C6}"/>
              </a:ext>
            </a:extLst>
          </p:cNvPr>
          <p:cNvSpPr txBox="1"/>
          <p:nvPr/>
        </p:nvSpPr>
        <p:spPr>
          <a:xfrm>
            <a:off x="2005781" y="4350102"/>
            <a:ext cx="511277" cy="446276"/>
          </a:xfrm>
          <a:prstGeom prst="rect">
            <a:avLst/>
          </a:prstGeom>
          <a:noFill/>
        </p:spPr>
        <p:txBody>
          <a:bodyPr wrap="square" rtlCol="0">
            <a:spAutoFit/>
          </a:bodyPr>
          <a:lstStyle/>
          <a:p>
            <a:r>
              <a:rPr lang="es-MX" sz="2300" b="1" dirty="0"/>
              <a:t>1</a:t>
            </a:r>
            <a:r>
              <a:rPr lang="es-MX" sz="2300" dirty="0"/>
              <a:t>.</a:t>
            </a:r>
            <a:endParaRPr lang="es-CO" sz="2300" dirty="0"/>
          </a:p>
        </p:txBody>
      </p:sp>
      <p:sp>
        <p:nvSpPr>
          <p:cNvPr id="16" name="CuadroTexto 15">
            <a:extLst>
              <a:ext uri="{FF2B5EF4-FFF2-40B4-BE49-F238E27FC236}">
                <a16:creationId xmlns:a16="http://schemas.microsoft.com/office/drawing/2014/main" id="{0A2A8BA1-2EC7-41F4-B98D-6B209FD6CB23}"/>
              </a:ext>
            </a:extLst>
          </p:cNvPr>
          <p:cNvSpPr txBox="1"/>
          <p:nvPr/>
        </p:nvSpPr>
        <p:spPr>
          <a:xfrm>
            <a:off x="1045739" y="4691002"/>
            <a:ext cx="2493855" cy="646331"/>
          </a:xfrm>
          <a:prstGeom prst="rect">
            <a:avLst/>
          </a:prstGeom>
          <a:noFill/>
        </p:spPr>
        <p:txBody>
          <a:bodyPr wrap="square">
            <a:spAutoFit/>
          </a:bodyPr>
          <a:lstStyle/>
          <a:p>
            <a:r>
              <a:rPr lang="es-CO" dirty="0"/>
              <a:t>Diseñar la arquitectura </a:t>
            </a:r>
          </a:p>
          <a:p>
            <a:r>
              <a:rPr lang="es-CO" dirty="0"/>
              <a:t>técnica del Marketplace.</a:t>
            </a:r>
          </a:p>
        </p:txBody>
      </p:sp>
      <p:sp>
        <p:nvSpPr>
          <p:cNvPr id="19" name="CuadroTexto 18">
            <a:extLst>
              <a:ext uri="{FF2B5EF4-FFF2-40B4-BE49-F238E27FC236}">
                <a16:creationId xmlns:a16="http://schemas.microsoft.com/office/drawing/2014/main" id="{141E02DC-B04A-4FEF-BDED-1C4F05EC3F2F}"/>
              </a:ext>
            </a:extLst>
          </p:cNvPr>
          <p:cNvSpPr txBox="1"/>
          <p:nvPr/>
        </p:nvSpPr>
        <p:spPr>
          <a:xfrm>
            <a:off x="5456903" y="4435880"/>
            <a:ext cx="511277" cy="446276"/>
          </a:xfrm>
          <a:prstGeom prst="rect">
            <a:avLst/>
          </a:prstGeom>
          <a:noFill/>
        </p:spPr>
        <p:txBody>
          <a:bodyPr wrap="square" rtlCol="0">
            <a:spAutoFit/>
          </a:bodyPr>
          <a:lstStyle/>
          <a:p>
            <a:r>
              <a:rPr lang="es-MX" sz="2300" b="1" dirty="0"/>
              <a:t>2</a:t>
            </a:r>
            <a:r>
              <a:rPr lang="es-MX" sz="2000" b="1" dirty="0"/>
              <a:t>.</a:t>
            </a:r>
            <a:endParaRPr lang="es-CO" dirty="0"/>
          </a:p>
        </p:txBody>
      </p:sp>
      <p:sp>
        <p:nvSpPr>
          <p:cNvPr id="21" name="CuadroTexto 20">
            <a:extLst>
              <a:ext uri="{FF2B5EF4-FFF2-40B4-BE49-F238E27FC236}">
                <a16:creationId xmlns:a16="http://schemas.microsoft.com/office/drawing/2014/main" id="{77990A3C-27DB-447A-8316-BD6A6C4C9E60}"/>
              </a:ext>
            </a:extLst>
          </p:cNvPr>
          <p:cNvSpPr txBox="1"/>
          <p:nvPr/>
        </p:nvSpPr>
        <p:spPr>
          <a:xfrm>
            <a:off x="4109883" y="4799822"/>
            <a:ext cx="3087329" cy="369332"/>
          </a:xfrm>
          <a:prstGeom prst="rect">
            <a:avLst/>
          </a:prstGeom>
          <a:noFill/>
        </p:spPr>
        <p:txBody>
          <a:bodyPr wrap="square">
            <a:spAutoFit/>
          </a:bodyPr>
          <a:lstStyle/>
          <a:p>
            <a:r>
              <a:rPr lang="es-CO" dirty="0"/>
              <a:t>Reducir la pobreza energética.</a:t>
            </a:r>
          </a:p>
        </p:txBody>
      </p:sp>
      <p:pic>
        <p:nvPicPr>
          <p:cNvPr id="23" name="Imagen 22">
            <a:extLst>
              <a:ext uri="{FF2B5EF4-FFF2-40B4-BE49-F238E27FC236}">
                <a16:creationId xmlns:a16="http://schemas.microsoft.com/office/drawing/2014/main" id="{1AE6074A-6868-4A52-8C09-9B4495B597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7404" y="1035985"/>
            <a:ext cx="5379639" cy="2847758"/>
          </a:xfrm>
          <a:prstGeom prst="rect">
            <a:avLst/>
          </a:prstGeom>
        </p:spPr>
      </p:pic>
      <p:sp>
        <p:nvSpPr>
          <p:cNvPr id="26" name="CuadroTexto 25">
            <a:extLst>
              <a:ext uri="{FF2B5EF4-FFF2-40B4-BE49-F238E27FC236}">
                <a16:creationId xmlns:a16="http://schemas.microsoft.com/office/drawing/2014/main" id="{B7BC472D-99D8-4D53-9B39-6B82CC36B406}"/>
              </a:ext>
            </a:extLst>
          </p:cNvPr>
          <p:cNvSpPr txBox="1"/>
          <p:nvPr/>
        </p:nvSpPr>
        <p:spPr>
          <a:xfrm>
            <a:off x="9099762" y="4371969"/>
            <a:ext cx="511277" cy="400110"/>
          </a:xfrm>
          <a:prstGeom prst="rect">
            <a:avLst/>
          </a:prstGeom>
          <a:noFill/>
        </p:spPr>
        <p:txBody>
          <a:bodyPr wrap="square" rtlCol="0">
            <a:spAutoFit/>
          </a:bodyPr>
          <a:lstStyle/>
          <a:p>
            <a:r>
              <a:rPr lang="es-MX" sz="2000" b="1" dirty="0"/>
              <a:t>3.</a:t>
            </a:r>
            <a:endParaRPr lang="es-CO" dirty="0"/>
          </a:p>
        </p:txBody>
      </p:sp>
      <p:sp>
        <p:nvSpPr>
          <p:cNvPr id="28" name="CuadroTexto 27">
            <a:extLst>
              <a:ext uri="{FF2B5EF4-FFF2-40B4-BE49-F238E27FC236}">
                <a16:creationId xmlns:a16="http://schemas.microsoft.com/office/drawing/2014/main" id="{61097204-1247-4ACD-96BE-4F8C8C846CDA}"/>
              </a:ext>
            </a:extLst>
          </p:cNvPr>
          <p:cNvSpPr txBox="1"/>
          <p:nvPr/>
        </p:nvSpPr>
        <p:spPr>
          <a:xfrm>
            <a:off x="7767501" y="4789071"/>
            <a:ext cx="3480607" cy="646331"/>
          </a:xfrm>
          <a:prstGeom prst="rect">
            <a:avLst/>
          </a:prstGeom>
          <a:noFill/>
        </p:spPr>
        <p:txBody>
          <a:bodyPr wrap="square">
            <a:spAutoFit/>
          </a:bodyPr>
          <a:lstStyle/>
          <a:p>
            <a:r>
              <a:rPr lang="es-CO" dirty="0"/>
              <a:t>Contribuir a la sostenibilidad ambiental.</a:t>
            </a:r>
          </a:p>
        </p:txBody>
      </p:sp>
    </p:spTree>
    <p:custDataLst>
      <p:tags r:id="rId1"/>
    </p:custDataLst>
    <p:extLst>
      <p:ext uri="{BB962C8B-B14F-4D97-AF65-F5344CB8AC3E}">
        <p14:creationId xmlns:p14="http://schemas.microsoft.com/office/powerpoint/2010/main" val="757113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FE67-4F5E-0909-9C28-EB473BE9A32D}"/>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44E1B251-CEDE-72F4-F613-FF70BF87AC2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Imagen 7">
            <a:extLst>
              <a:ext uri="{FF2B5EF4-FFF2-40B4-BE49-F238E27FC236}">
                <a16:creationId xmlns:a16="http://schemas.microsoft.com/office/drawing/2014/main" id="{5C78B877-9F75-452B-9068-695A752494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57" y="1283896"/>
            <a:ext cx="12192001" cy="3245069"/>
          </a:xfrm>
          <a:prstGeom prst="rect">
            <a:avLst/>
          </a:prstGeom>
        </p:spPr>
      </p:pic>
      <p:sp>
        <p:nvSpPr>
          <p:cNvPr id="12" name="CuadroTexto 11">
            <a:extLst>
              <a:ext uri="{FF2B5EF4-FFF2-40B4-BE49-F238E27FC236}">
                <a16:creationId xmlns:a16="http://schemas.microsoft.com/office/drawing/2014/main" id="{5FCD77AD-8AB8-4DAE-B09F-B734222BC5D9}"/>
              </a:ext>
            </a:extLst>
          </p:cNvPr>
          <p:cNvSpPr txBox="1"/>
          <p:nvPr/>
        </p:nvSpPr>
        <p:spPr>
          <a:xfrm>
            <a:off x="1123337" y="5121546"/>
            <a:ext cx="2209797" cy="1077218"/>
          </a:xfrm>
          <a:prstGeom prst="rect">
            <a:avLst/>
          </a:prstGeom>
          <a:noFill/>
        </p:spPr>
        <p:txBody>
          <a:bodyPr wrap="square">
            <a:spAutoFit/>
          </a:bodyPr>
          <a:lstStyle/>
          <a:p>
            <a:r>
              <a:rPr lang="es-CO" sz="1600" b="1" dirty="0"/>
              <a:t> </a:t>
            </a:r>
            <a:r>
              <a:rPr lang="es-CO" sz="1600" b="1" dirty="0">
                <a:latin typeface="Arial" panose="020B0604020202020204" pitchFamily="34" charset="0"/>
                <a:cs typeface="Arial" panose="020B0604020202020204" pitchFamily="34" charset="0"/>
              </a:rPr>
              <a:t>Incapacidad para venta directa de excedentes a terceros.</a:t>
            </a:r>
          </a:p>
        </p:txBody>
      </p:sp>
      <p:sp>
        <p:nvSpPr>
          <p:cNvPr id="14" name="CuadroTexto 13">
            <a:extLst>
              <a:ext uri="{FF2B5EF4-FFF2-40B4-BE49-F238E27FC236}">
                <a16:creationId xmlns:a16="http://schemas.microsoft.com/office/drawing/2014/main" id="{CAFC1ACA-EDE7-40C1-8543-6528DF9050F8}"/>
              </a:ext>
            </a:extLst>
          </p:cNvPr>
          <p:cNvSpPr txBox="1"/>
          <p:nvPr/>
        </p:nvSpPr>
        <p:spPr>
          <a:xfrm>
            <a:off x="3637932" y="5131378"/>
            <a:ext cx="2733368" cy="830997"/>
          </a:xfrm>
          <a:prstGeom prst="rect">
            <a:avLst/>
          </a:prstGeom>
          <a:noFill/>
        </p:spPr>
        <p:txBody>
          <a:bodyPr wrap="square">
            <a:spAutoFit/>
          </a:bodyPr>
          <a:lstStyle/>
          <a:p>
            <a:r>
              <a:rPr lang="es-CO" sz="1600" b="1" dirty="0">
                <a:latin typeface="Arial" panose="020B0604020202020204" pitchFamily="34" charset="0"/>
                <a:cs typeface="Arial" panose="020B0604020202020204" pitchFamily="34" charset="0"/>
              </a:rPr>
              <a:t>Dependencia de redes centralizadas de alto costo</a:t>
            </a:r>
            <a:r>
              <a:rPr lang="es-CO" sz="1600" dirty="0">
                <a:latin typeface="Arial" panose="020B0604020202020204" pitchFamily="34" charset="0"/>
                <a:cs typeface="Arial" panose="020B0604020202020204" pitchFamily="34" charset="0"/>
              </a:rPr>
              <a:t>.</a:t>
            </a:r>
          </a:p>
        </p:txBody>
      </p:sp>
      <p:sp>
        <p:nvSpPr>
          <p:cNvPr id="16" name="CuadroTexto 15">
            <a:extLst>
              <a:ext uri="{FF2B5EF4-FFF2-40B4-BE49-F238E27FC236}">
                <a16:creationId xmlns:a16="http://schemas.microsoft.com/office/drawing/2014/main" id="{69ED979B-B6F0-4374-B7F4-0E65104B9DE7}"/>
              </a:ext>
            </a:extLst>
          </p:cNvPr>
          <p:cNvSpPr txBox="1"/>
          <p:nvPr/>
        </p:nvSpPr>
        <p:spPr>
          <a:xfrm>
            <a:off x="6609734" y="5093744"/>
            <a:ext cx="2460529" cy="892552"/>
          </a:xfrm>
          <a:prstGeom prst="rect">
            <a:avLst/>
          </a:prstGeom>
          <a:noFill/>
        </p:spPr>
        <p:txBody>
          <a:bodyPr wrap="square">
            <a:spAutoFit/>
          </a:bodyPr>
          <a:lstStyle/>
          <a:p>
            <a:r>
              <a:rPr lang="es-CO" sz="1600" b="1" dirty="0">
                <a:latin typeface="Arial" panose="020B0604020202020204" pitchFamily="34" charset="0"/>
                <a:cs typeface="Arial" panose="020B0604020202020204" pitchFamily="34" charset="0"/>
              </a:rPr>
              <a:t>Falta de mecanismos sencillos de comercialización</a:t>
            </a:r>
            <a:r>
              <a:rPr lang="es-CO" sz="2000" dirty="0"/>
              <a:t>.</a:t>
            </a:r>
          </a:p>
        </p:txBody>
      </p:sp>
      <p:sp>
        <p:nvSpPr>
          <p:cNvPr id="20" name="CuadroTexto 19">
            <a:extLst>
              <a:ext uri="{FF2B5EF4-FFF2-40B4-BE49-F238E27FC236}">
                <a16:creationId xmlns:a16="http://schemas.microsoft.com/office/drawing/2014/main" id="{2919DC61-CF29-417F-89E3-12BC73642078}"/>
              </a:ext>
            </a:extLst>
          </p:cNvPr>
          <p:cNvSpPr txBox="1"/>
          <p:nvPr/>
        </p:nvSpPr>
        <p:spPr>
          <a:xfrm>
            <a:off x="9375061" y="5093744"/>
            <a:ext cx="2512142" cy="646331"/>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C</a:t>
            </a:r>
            <a:r>
              <a:rPr lang="es-CO" b="1" dirty="0" err="1">
                <a:latin typeface="Arial" panose="020B0604020202020204" pitchFamily="34" charset="0"/>
                <a:cs typeface="Arial" panose="020B0604020202020204" pitchFamily="34" charset="0"/>
              </a:rPr>
              <a:t>ontaminación</a:t>
            </a:r>
            <a:r>
              <a:rPr lang="es-CO" b="1" dirty="0">
                <a:latin typeface="Arial" panose="020B0604020202020204" pitchFamily="34" charset="0"/>
                <a:cs typeface="Arial" panose="020B0604020202020204" pitchFamily="34" charset="0"/>
              </a:rPr>
              <a:t> Ambiental</a:t>
            </a:r>
          </a:p>
        </p:txBody>
      </p:sp>
      <p:pic>
        <p:nvPicPr>
          <p:cNvPr id="28" name="Gráfico 27" descr="Marca de verificación con relleno sólido">
            <a:extLst>
              <a:ext uri="{FF2B5EF4-FFF2-40B4-BE49-F238E27FC236}">
                <a16:creationId xmlns:a16="http://schemas.microsoft.com/office/drawing/2014/main" id="{F5D2BEC9-A854-43BA-AA0B-7F0D3E071CC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1482" y="5257984"/>
            <a:ext cx="381020" cy="466851"/>
          </a:xfrm>
          <a:prstGeom prst="rect">
            <a:avLst/>
          </a:prstGeom>
        </p:spPr>
      </p:pic>
      <p:pic>
        <p:nvPicPr>
          <p:cNvPr id="29" name="Gráfico 28" descr="Marca de verificación con relleno sólido">
            <a:extLst>
              <a:ext uri="{FF2B5EF4-FFF2-40B4-BE49-F238E27FC236}">
                <a16:creationId xmlns:a16="http://schemas.microsoft.com/office/drawing/2014/main" id="{2973B39E-5795-4077-A81F-649F139E055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15136" y="5203910"/>
            <a:ext cx="381020" cy="466851"/>
          </a:xfrm>
          <a:prstGeom prst="rect">
            <a:avLst/>
          </a:prstGeom>
        </p:spPr>
      </p:pic>
      <p:pic>
        <p:nvPicPr>
          <p:cNvPr id="30" name="Gráfico 29" descr="Marca de verificación con relleno sólido">
            <a:extLst>
              <a:ext uri="{FF2B5EF4-FFF2-40B4-BE49-F238E27FC236}">
                <a16:creationId xmlns:a16="http://schemas.microsoft.com/office/drawing/2014/main" id="{8CC79305-8091-44F3-98C8-94B8E17881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59905" y="5238326"/>
            <a:ext cx="381020" cy="466851"/>
          </a:xfrm>
          <a:prstGeom prst="rect">
            <a:avLst/>
          </a:prstGeom>
        </p:spPr>
      </p:pic>
      <p:pic>
        <p:nvPicPr>
          <p:cNvPr id="31" name="Gráfico 30" descr="Marca de verificación con relleno sólido">
            <a:extLst>
              <a:ext uri="{FF2B5EF4-FFF2-40B4-BE49-F238E27FC236}">
                <a16:creationId xmlns:a16="http://schemas.microsoft.com/office/drawing/2014/main" id="{B646A61D-97F8-4AAB-8C06-331E3EB904A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927688" y="5213750"/>
            <a:ext cx="381020" cy="466851"/>
          </a:xfrm>
          <a:prstGeom prst="rect">
            <a:avLst/>
          </a:prstGeom>
        </p:spPr>
      </p:pic>
      <p:sp>
        <p:nvSpPr>
          <p:cNvPr id="33" name="CuadroTexto 32">
            <a:extLst>
              <a:ext uri="{FF2B5EF4-FFF2-40B4-BE49-F238E27FC236}">
                <a16:creationId xmlns:a16="http://schemas.microsoft.com/office/drawing/2014/main" id="{F24AD540-B62D-43A6-966E-21CB3C2F58E5}"/>
              </a:ext>
            </a:extLst>
          </p:cNvPr>
          <p:cNvSpPr txBox="1"/>
          <p:nvPr/>
        </p:nvSpPr>
        <p:spPr>
          <a:xfrm>
            <a:off x="3045542" y="247094"/>
            <a:ext cx="6169742" cy="830997"/>
          </a:xfrm>
          <a:prstGeom prst="rect">
            <a:avLst/>
          </a:prstGeom>
          <a:noFill/>
        </p:spPr>
        <p:txBody>
          <a:bodyPr wrap="square">
            <a:spAutoFit/>
          </a:bodyPr>
          <a:lstStyle/>
          <a:p>
            <a:pPr marL="254000" algn="ctr"/>
            <a:r>
              <a:rPr lang="es-ES" sz="2400" b="1" kern="0" dirty="0">
                <a:effectLst/>
                <a:latin typeface="Calibri" panose="020F0502020204030204" pitchFamily="34" charset="0"/>
                <a:ea typeface="Calibri" panose="020F0502020204030204" pitchFamily="34" charset="0"/>
              </a:rPr>
              <a:t>Planteamiento</a:t>
            </a:r>
            <a:r>
              <a:rPr lang="es-ES" sz="2400" b="1" kern="0" spc="-15" dirty="0">
                <a:effectLst/>
                <a:latin typeface="Calibri" panose="020F0502020204030204" pitchFamily="34" charset="0"/>
                <a:ea typeface="Calibri" panose="020F0502020204030204" pitchFamily="34" charset="0"/>
              </a:rPr>
              <a:t> </a:t>
            </a:r>
            <a:r>
              <a:rPr lang="es-ES" sz="2400" b="1" kern="0" dirty="0">
                <a:effectLst/>
                <a:latin typeface="Calibri" panose="020F0502020204030204" pitchFamily="34" charset="0"/>
                <a:ea typeface="Calibri" panose="020F0502020204030204" pitchFamily="34" charset="0"/>
              </a:rPr>
              <a:t>del</a:t>
            </a:r>
            <a:r>
              <a:rPr lang="es-ES" sz="2400" b="1" kern="0" spc="-25" dirty="0">
                <a:effectLst/>
                <a:latin typeface="Calibri" panose="020F0502020204030204" pitchFamily="34" charset="0"/>
                <a:ea typeface="Calibri" panose="020F0502020204030204" pitchFamily="34" charset="0"/>
              </a:rPr>
              <a:t> </a:t>
            </a:r>
            <a:r>
              <a:rPr lang="es-ES" sz="2400" b="1" kern="0" dirty="0">
                <a:effectLst/>
                <a:latin typeface="Calibri" panose="020F0502020204030204" pitchFamily="34" charset="0"/>
                <a:ea typeface="Calibri" panose="020F0502020204030204" pitchFamily="34" charset="0"/>
              </a:rPr>
              <a:t>problema</a:t>
            </a:r>
            <a:r>
              <a:rPr lang="es-ES" sz="2400" b="1" kern="0" spc="-20" dirty="0">
                <a:effectLst/>
                <a:latin typeface="Calibri" panose="020F0502020204030204" pitchFamily="34" charset="0"/>
                <a:ea typeface="Calibri" panose="020F0502020204030204" pitchFamily="34" charset="0"/>
              </a:rPr>
              <a:t> </a:t>
            </a:r>
            <a:r>
              <a:rPr lang="es-ES" sz="2400" b="1" kern="0" dirty="0">
                <a:effectLst/>
                <a:latin typeface="Calibri" panose="020F0502020204030204" pitchFamily="34" charset="0"/>
                <a:ea typeface="Calibri" panose="020F0502020204030204" pitchFamily="34" charset="0"/>
              </a:rPr>
              <a:t>que</a:t>
            </a:r>
            <a:r>
              <a:rPr lang="es-ES" sz="2400" b="1" kern="0" spc="-25" dirty="0">
                <a:effectLst/>
                <a:latin typeface="Calibri" panose="020F0502020204030204" pitchFamily="34" charset="0"/>
                <a:ea typeface="Calibri" panose="020F0502020204030204" pitchFamily="34" charset="0"/>
              </a:rPr>
              <a:t> </a:t>
            </a:r>
            <a:r>
              <a:rPr lang="es-ES" sz="2400" b="1" kern="0" dirty="0">
                <a:effectLst/>
                <a:latin typeface="Calibri" panose="020F0502020204030204" pitchFamily="34" charset="0"/>
                <a:ea typeface="Calibri" panose="020F0502020204030204" pitchFamily="34" charset="0"/>
              </a:rPr>
              <a:t>solucionará</a:t>
            </a:r>
            <a:r>
              <a:rPr lang="es-ES" sz="2400" b="1" kern="0" spc="-25" dirty="0">
                <a:effectLst/>
                <a:latin typeface="Calibri" panose="020F0502020204030204" pitchFamily="34" charset="0"/>
                <a:ea typeface="Calibri" panose="020F0502020204030204" pitchFamily="34" charset="0"/>
              </a:rPr>
              <a:t> </a:t>
            </a:r>
            <a:r>
              <a:rPr lang="es-ES" sz="2400" b="1" kern="0" dirty="0">
                <a:effectLst/>
                <a:latin typeface="Calibri" panose="020F0502020204030204" pitchFamily="34" charset="0"/>
                <a:ea typeface="Calibri" panose="020F0502020204030204" pitchFamily="34" charset="0"/>
              </a:rPr>
              <a:t>el</a:t>
            </a:r>
            <a:r>
              <a:rPr lang="es-ES" sz="2400" b="1" kern="0" spc="-30" dirty="0">
                <a:effectLst/>
                <a:latin typeface="Calibri" panose="020F0502020204030204" pitchFamily="34" charset="0"/>
                <a:ea typeface="Calibri" panose="020F0502020204030204" pitchFamily="34" charset="0"/>
              </a:rPr>
              <a:t> </a:t>
            </a:r>
            <a:r>
              <a:rPr lang="es-ES" sz="2400" b="1" kern="0" dirty="0">
                <a:effectLst/>
                <a:latin typeface="Calibri" panose="020F0502020204030204" pitchFamily="34" charset="0"/>
                <a:ea typeface="Calibri" panose="020F0502020204030204" pitchFamily="34" charset="0"/>
              </a:rPr>
              <a:t>producto/servicio:</a:t>
            </a:r>
            <a:endParaRPr lang="es-CO" sz="2400" b="1" kern="0" dirty="0">
              <a:effectLst/>
              <a:latin typeface="Calibri" panose="020F0502020204030204" pitchFamily="34" charset="0"/>
              <a:ea typeface="Calibri" panose="020F0502020204030204" pitchFamily="34" charset="0"/>
            </a:endParaRPr>
          </a:p>
        </p:txBody>
      </p:sp>
    </p:spTree>
    <p:custDataLst>
      <p:tags r:id="rId1"/>
    </p:custDataLst>
    <p:extLst>
      <p:ext uri="{BB962C8B-B14F-4D97-AF65-F5344CB8AC3E}">
        <p14:creationId xmlns:p14="http://schemas.microsoft.com/office/powerpoint/2010/main" val="32963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EFE67-4F5E-0909-9C28-EB473BE9A32D}"/>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44E1B251-CEDE-72F4-F613-FF70BF87AC2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Imagen 2">
            <a:extLst>
              <a:ext uri="{FF2B5EF4-FFF2-40B4-BE49-F238E27FC236}">
                <a16:creationId xmlns:a16="http://schemas.microsoft.com/office/drawing/2014/main" id="{061352AA-2BC8-4C7A-ABDA-7A33964C67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 y="1032386"/>
            <a:ext cx="11243187" cy="4965291"/>
          </a:xfrm>
          <a:prstGeom prst="rect">
            <a:avLst/>
          </a:prstGeom>
        </p:spPr>
      </p:pic>
    </p:spTree>
    <p:custDataLst>
      <p:tags r:id="rId1"/>
    </p:custDataLst>
    <p:extLst>
      <p:ext uri="{BB962C8B-B14F-4D97-AF65-F5344CB8AC3E}">
        <p14:creationId xmlns:p14="http://schemas.microsoft.com/office/powerpoint/2010/main" val="3242663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E90B4249-ED04-0453-12F1-E21CFD129839}"/>
              </a:ext>
            </a:extLst>
          </p:cNvPr>
          <p:cNvSpPr txBox="1"/>
          <p:nvPr/>
        </p:nvSpPr>
        <p:spPr>
          <a:xfrm>
            <a:off x="676084" y="1355122"/>
            <a:ext cx="3335478" cy="1938992"/>
          </a:xfrm>
          <a:prstGeom prst="rect">
            <a:avLst/>
          </a:prstGeom>
          <a:noFill/>
        </p:spPr>
        <p:txBody>
          <a:bodyPr wrap="square">
            <a:spAutoFit/>
          </a:bodyPr>
          <a:lstStyle/>
          <a:p>
            <a:endParaRPr lang="es-CO" dirty="0"/>
          </a:p>
          <a:p>
            <a:r>
              <a:rPr lang="es-CO" sz="3600" dirty="0"/>
              <a:t> </a:t>
            </a:r>
            <a:r>
              <a:rPr lang="es-CO" sz="2000" b="1" dirty="0">
                <a:latin typeface="Arial" panose="020B0604020202020204" pitchFamily="34" charset="0"/>
                <a:cs typeface="Arial" panose="020B0604020202020204" pitchFamily="34" charset="0"/>
              </a:rPr>
              <a:t>REGULACIÓN:</a:t>
            </a:r>
          </a:p>
          <a:p>
            <a:pPr algn="just"/>
            <a:r>
              <a:rPr lang="es-CO" sz="2400" b="1" dirty="0"/>
              <a:t>	</a:t>
            </a:r>
            <a:endParaRPr lang="es-MX" sz="2400" dirty="0"/>
          </a:p>
          <a:p>
            <a:r>
              <a:rPr lang="es-MX" sz="2400" b="1" dirty="0"/>
              <a:t> </a:t>
            </a:r>
            <a:endParaRPr lang="es-CO" sz="2400" b="1" dirty="0"/>
          </a:p>
          <a:p>
            <a:endParaRPr lang="es-CO" b="1" dirty="0"/>
          </a:p>
        </p:txBody>
      </p:sp>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80C5FBA6-EC1A-4B6D-88BE-5FDFE5DC9072}"/>
              </a:ext>
            </a:extLst>
          </p:cNvPr>
          <p:cNvSpPr txBox="1"/>
          <p:nvPr/>
        </p:nvSpPr>
        <p:spPr>
          <a:xfrm>
            <a:off x="3028336" y="669888"/>
            <a:ext cx="6135328" cy="553998"/>
          </a:xfrm>
          <a:prstGeom prst="rect">
            <a:avLst/>
          </a:prstGeom>
          <a:noFill/>
        </p:spPr>
        <p:txBody>
          <a:bodyPr wrap="square">
            <a:spAutoFit/>
          </a:bodyPr>
          <a:lstStyle/>
          <a:p>
            <a:pPr marL="254000" algn="ctr"/>
            <a:r>
              <a:rPr lang="es-ES" sz="3000" b="1" kern="0" dirty="0">
                <a:effectLst/>
                <a:latin typeface="Calibri" panose="020F0502020204030204" pitchFamily="34" charset="0"/>
                <a:ea typeface="Calibri" panose="020F0502020204030204" pitchFamily="34" charset="0"/>
              </a:rPr>
              <a:t>Marco Legal y Ético</a:t>
            </a:r>
            <a:endParaRPr lang="es-CO" sz="3000" b="1" kern="0" dirty="0">
              <a:effectLst/>
              <a:latin typeface="Calibri" panose="020F0502020204030204" pitchFamily="34" charset="0"/>
              <a:ea typeface="Calibri" panose="020F0502020204030204" pitchFamily="34" charset="0"/>
            </a:endParaRPr>
          </a:p>
        </p:txBody>
      </p:sp>
      <p:pic>
        <p:nvPicPr>
          <p:cNvPr id="8" name="Gráfico 7" descr="Marca de verificación con relleno sólido">
            <a:extLst>
              <a:ext uri="{FF2B5EF4-FFF2-40B4-BE49-F238E27FC236}">
                <a16:creationId xmlns:a16="http://schemas.microsoft.com/office/drawing/2014/main" id="{5E70C8F2-D7CC-4B34-AB76-CB929AFFA29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9028" y="1826324"/>
            <a:ext cx="327055" cy="327055"/>
          </a:xfrm>
          <a:prstGeom prst="rect">
            <a:avLst/>
          </a:prstGeom>
        </p:spPr>
      </p:pic>
      <p:sp>
        <p:nvSpPr>
          <p:cNvPr id="13" name="CuadroTexto 12">
            <a:extLst>
              <a:ext uri="{FF2B5EF4-FFF2-40B4-BE49-F238E27FC236}">
                <a16:creationId xmlns:a16="http://schemas.microsoft.com/office/drawing/2014/main" id="{6DADAD1C-0589-4151-8593-34C85EE9FDD1}"/>
              </a:ext>
            </a:extLst>
          </p:cNvPr>
          <p:cNvSpPr txBox="1"/>
          <p:nvPr/>
        </p:nvSpPr>
        <p:spPr>
          <a:xfrm>
            <a:off x="865229" y="2302795"/>
            <a:ext cx="9144004" cy="738664"/>
          </a:xfrm>
          <a:prstGeom prst="rect">
            <a:avLst/>
          </a:prstGeom>
          <a:noFill/>
        </p:spPr>
        <p:txBody>
          <a:bodyPr wrap="square">
            <a:spAutoFit/>
          </a:bodyPr>
          <a:lstStyle/>
          <a:p>
            <a:pPr algn="just"/>
            <a:r>
              <a:rPr lang="es-CO" sz="1400" dirty="0">
                <a:latin typeface="Arial" panose="020B0604020202020204" pitchFamily="34" charset="0"/>
                <a:cs typeface="Arial" panose="020B0604020202020204" pitchFamily="34" charset="0"/>
              </a:rPr>
              <a:t>CREG 174 de 2021 (</a:t>
            </a:r>
            <a:r>
              <a:rPr lang="es-MX" sz="1400" dirty="0">
                <a:latin typeface="Arial" panose="020B0604020202020204" pitchFamily="34" charset="0"/>
                <a:cs typeface="Arial" panose="020B0604020202020204" pitchFamily="34" charset="0"/>
              </a:rPr>
              <a:t>Establece las reglas para la autogeneración a pequeña escala y generación distribuida).</a:t>
            </a:r>
          </a:p>
          <a:p>
            <a:pPr algn="just"/>
            <a:endParaRPr lang="es-MX" sz="1400" dirty="0">
              <a:latin typeface="Arial" panose="020B0604020202020204" pitchFamily="34" charset="0"/>
              <a:cs typeface="Arial" panose="020B0604020202020204" pitchFamily="34" charset="0"/>
            </a:endParaRPr>
          </a:p>
          <a:p>
            <a:pPr algn="just"/>
            <a:r>
              <a:rPr lang="es-CO" sz="1400" dirty="0">
                <a:latin typeface="Arial" panose="020B0604020202020204" pitchFamily="34" charset="0"/>
                <a:cs typeface="Arial" panose="020B0604020202020204" pitchFamily="34" charset="0"/>
              </a:rPr>
              <a:t>CREG 11014 de 2024 (</a:t>
            </a:r>
            <a:r>
              <a:rPr lang="es-MX" sz="1400" dirty="0">
                <a:latin typeface="Arial" panose="020B0604020202020204" pitchFamily="34" charset="0"/>
                <a:cs typeface="Arial" panose="020B0604020202020204" pitchFamily="34" charset="0"/>
              </a:rPr>
              <a:t>Buscan ajustar los precios de esa venta/compra en la factura).</a:t>
            </a:r>
          </a:p>
        </p:txBody>
      </p:sp>
      <p:sp>
        <p:nvSpPr>
          <p:cNvPr id="15" name="CuadroTexto 14">
            <a:extLst>
              <a:ext uri="{FF2B5EF4-FFF2-40B4-BE49-F238E27FC236}">
                <a16:creationId xmlns:a16="http://schemas.microsoft.com/office/drawing/2014/main" id="{55CEDA75-30DC-4AB1-8E8B-3453E5FA842C}"/>
              </a:ext>
            </a:extLst>
          </p:cNvPr>
          <p:cNvSpPr txBox="1"/>
          <p:nvPr/>
        </p:nvSpPr>
        <p:spPr>
          <a:xfrm>
            <a:off x="865229" y="3098173"/>
            <a:ext cx="9281661" cy="2462213"/>
          </a:xfrm>
          <a:prstGeom prst="rect">
            <a:avLst/>
          </a:prstGeom>
          <a:noFill/>
        </p:spPr>
        <p:txBody>
          <a:bodyPr wrap="square">
            <a:spAutoFit/>
          </a:bodyPr>
          <a:lstStyle/>
          <a:p>
            <a:pPr algn="just"/>
            <a:r>
              <a:rPr lang="es-CO" sz="1400" dirty="0">
                <a:latin typeface="Arial" panose="020B0604020202020204" pitchFamily="34" charset="0"/>
                <a:cs typeface="Arial" panose="020B0604020202020204" pitchFamily="34" charset="0"/>
              </a:rPr>
              <a:t> Ministerio de Minas y Energía de Colombia: Cumpliendo la Ley 1712 de 2014 (Transparencia y Acceso a la Información Pública).</a:t>
            </a:r>
          </a:p>
          <a:p>
            <a:pPr algn="just"/>
            <a:endParaRPr lang="es-CO" sz="1400" dirty="0">
              <a:latin typeface="Arial" panose="020B0604020202020204" pitchFamily="34" charset="0"/>
              <a:cs typeface="Arial" panose="020B0604020202020204" pitchFamily="34" charset="0"/>
            </a:endParaRPr>
          </a:p>
          <a:p>
            <a:pPr algn="just"/>
            <a:r>
              <a:rPr lang="es-CO" sz="1400" dirty="0">
                <a:latin typeface="Arial" panose="020B0604020202020204" pitchFamily="34" charset="0"/>
                <a:cs typeface="Arial" panose="020B0604020202020204" pitchFamily="34" charset="0"/>
              </a:rPr>
              <a:t> Regulación del Mercado Eléctrico: Se debe cumplir con la normativa nacional que permite la autogeneración y la     venta de excedentes a la red (como la Ley 1715 de 2014 en Colombia o equivalentes regionales). </a:t>
            </a:r>
          </a:p>
          <a:p>
            <a:pPr algn="just"/>
            <a:endParaRPr lang="es-CO" sz="1400" dirty="0">
              <a:latin typeface="Arial" panose="020B0604020202020204" pitchFamily="34" charset="0"/>
              <a:cs typeface="Arial" panose="020B0604020202020204" pitchFamily="34" charset="0"/>
            </a:endParaRPr>
          </a:p>
          <a:p>
            <a:pPr algn="just"/>
            <a:r>
              <a:rPr lang="es-CO" sz="1400" dirty="0">
                <a:latin typeface="Arial" panose="020B0604020202020204" pitchFamily="34" charset="0"/>
                <a:cs typeface="Arial" panose="020B0604020202020204" pitchFamily="34" charset="0"/>
              </a:rPr>
              <a:t> Protección de Datos Personales (Ley 1581 / GDPR): Al recolectar datos de consumo de hogares y negocios en </a:t>
            </a:r>
            <a:r>
              <a:rPr lang="es-CO" sz="1400" dirty="0" err="1">
                <a:latin typeface="Arial" panose="020B0604020202020204" pitchFamily="34" charset="0"/>
                <a:cs typeface="Arial" panose="020B0604020202020204" pitchFamily="34" charset="0"/>
              </a:rPr>
              <a:t>Jupyter</a:t>
            </a:r>
            <a:r>
              <a:rPr lang="es-CO" sz="1400" dirty="0">
                <a:latin typeface="Arial" panose="020B0604020202020204" pitchFamily="34" charset="0"/>
                <a:cs typeface="Arial" panose="020B0604020202020204" pitchFamily="34" charset="0"/>
              </a:rPr>
              <a:t> Notebooks, el proyecto debe garantizar el anonimato y el consentimiento informado de los usuarios.</a:t>
            </a:r>
          </a:p>
          <a:p>
            <a:pPr algn="just"/>
            <a:endParaRPr lang="es-CO" sz="1400" dirty="0">
              <a:latin typeface="Arial" panose="020B0604020202020204" pitchFamily="34" charset="0"/>
              <a:cs typeface="Arial" panose="020B0604020202020204" pitchFamily="34" charset="0"/>
            </a:endParaRPr>
          </a:p>
          <a:p>
            <a:pPr algn="just"/>
            <a:r>
              <a:rPr lang="es-CO" sz="1400" dirty="0">
                <a:latin typeface="Arial" panose="020B0604020202020204" pitchFamily="34" charset="0"/>
                <a:cs typeface="Arial" panose="020B0604020202020204" pitchFamily="34" charset="0"/>
              </a:rPr>
              <a:t> Contratos Inteligentes y Validez Jurídica: Las transacciones de compra-venta automatizadas por la IA deben tener un respaldo legal que asegure que el intercambio de energía es vinculante y transparente para ambas partes.</a:t>
            </a:r>
          </a:p>
        </p:txBody>
      </p:sp>
    </p:spTree>
    <p:custDataLst>
      <p:tags r:id="rId1"/>
    </p:custDataLst>
    <p:extLst>
      <p:ext uri="{BB962C8B-B14F-4D97-AF65-F5344CB8AC3E}">
        <p14:creationId xmlns:p14="http://schemas.microsoft.com/office/powerpoint/2010/main" val="2743442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CA91DA19-1F45-48F7-AA64-27185281ED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929" y="943897"/>
            <a:ext cx="11004194" cy="4866419"/>
          </a:xfrm>
          <a:prstGeom prst="rect">
            <a:avLst/>
          </a:prstGeom>
        </p:spPr>
      </p:pic>
    </p:spTree>
    <p:custDataLst>
      <p:tags r:id="rId1"/>
    </p:custDataLst>
    <p:extLst>
      <p:ext uri="{BB962C8B-B14F-4D97-AF65-F5344CB8AC3E}">
        <p14:creationId xmlns:p14="http://schemas.microsoft.com/office/powerpoint/2010/main" val="286943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E90B4249-ED04-0453-12F1-E21CFD129839}"/>
              </a:ext>
            </a:extLst>
          </p:cNvPr>
          <p:cNvSpPr txBox="1"/>
          <p:nvPr/>
        </p:nvSpPr>
        <p:spPr>
          <a:xfrm>
            <a:off x="676083" y="1060154"/>
            <a:ext cx="9908527" cy="3970318"/>
          </a:xfrm>
          <a:prstGeom prst="rect">
            <a:avLst/>
          </a:prstGeom>
          <a:noFill/>
        </p:spPr>
        <p:txBody>
          <a:bodyPr wrap="square">
            <a:spAutoFit/>
          </a:bodyPr>
          <a:lstStyle/>
          <a:p>
            <a:r>
              <a:rPr lang="en-US" sz="1600" dirty="0">
                <a:ea typeface="Roboto Black" panose="02000000000000000000" pitchFamily="2" charset="0"/>
                <a:cs typeface="Arial" panose="020B0604020202020204" pitchFamily="34" charset="0"/>
              </a:rPr>
              <a:t>. </a:t>
            </a:r>
            <a:r>
              <a:rPr lang="en-US" sz="2000" b="1" dirty="0" err="1">
                <a:latin typeface="Arial" panose="020B0604020202020204" pitchFamily="34" charset="0"/>
                <a:ea typeface="Roboto Black" panose="02000000000000000000" pitchFamily="2" charset="0"/>
                <a:cs typeface="Arial" panose="020B0604020202020204" pitchFamily="34" charset="0"/>
              </a:rPr>
              <a:t>Propuesta</a:t>
            </a:r>
            <a:r>
              <a:rPr lang="en-US" sz="2000" b="1" dirty="0">
                <a:latin typeface="Arial" panose="020B0604020202020204" pitchFamily="34" charset="0"/>
                <a:ea typeface="Roboto Black" panose="02000000000000000000" pitchFamily="2" charset="0"/>
                <a:cs typeface="Arial" panose="020B0604020202020204" pitchFamily="34" charset="0"/>
              </a:rPr>
              <a:t> de Valor:</a:t>
            </a:r>
          </a:p>
          <a:p>
            <a:r>
              <a:rPr lang="en-US" sz="1600" b="1" dirty="0">
                <a:ea typeface="Roboto Black" panose="02000000000000000000" pitchFamily="2" charset="0"/>
                <a:cs typeface="Arial" panose="020B0604020202020204" pitchFamily="34" charset="0"/>
              </a:rPr>
              <a:t>  	</a:t>
            </a:r>
            <a:r>
              <a:rPr lang="en-US" sz="2000" dirty="0" err="1">
                <a:latin typeface="Arial" panose="020B0604020202020204" pitchFamily="34" charset="0"/>
                <a:ea typeface="Roboto Black" panose="02000000000000000000" pitchFamily="2" charset="0"/>
                <a:cs typeface="Arial" panose="020B0604020202020204" pitchFamily="34" charset="0"/>
              </a:rPr>
              <a:t>Ahorro</a:t>
            </a:r>
            <a:r>
              <a:rPr lang="en-US" sz="2000" dirty="0">
                <a:latin typeface="Arial" panose="020B0604020202020204" pitchFamily="34" charset="0"/>
                <a:ea typeface="Roboto Black" panose="02000000000000000000" pitchFamily="2" charset="0"/>
                <a:cs typeface="Arial" panose="020B0604020202020204" pitchFamily="34" charset="0"/>
              </a:rPr>
              <a:t> </a:t>
            </a:r>
            <a:r>
              <a:rPr lang="en-US" sz="2000" dirty="0" err="1">
                <a:latin typeface="Arial" panose="020B0604020202020204" pitchFamily="34" charset="0"/>
                <a:ea typeface="Roboto Black" panose="02000000000000000000" pitchFamily="2" charset="0"/>
                <a:cs typeface="Arial" panose="020B0604020202020204" pitchFamily="34" charset="0"/>
              </a:rPr>
              <a:t>Económico</a:t>
            </a:r>
            <a:r>
              <a:rPr lang="en-US" sz="2000" dirty="0">
                <a:latin typeface="Arial" panose="020B0604020202020204" pitchFamily="34" charset="0"/>
                <a:ea typeface="Roboto Black" panose="02000000000000000000" pitchFamily="2" charset="0"/>
                <a:cs typeface="Arial" panose="020B0604020202020204" pitchFamily="34" charset="0"/>
              </a:rPr>
              <a:t> </a:t>
            </a:r>
            <a:r>
              <a:rPr lang="en-US" sz="2000" dirty="0" err="1">
                <a:latin typeface="Arial" panose="020B0604020202020204" pitchFamily="34" charset="0"/>
                <a:ea typeface="Roboto Black" panose="02000000000000000000" pitchFamily="2" charset="0"/>
                <a:cs typeface="Arial" panose="020B0604020202020204" pitchFamily="34" charset="0"/>
              </a:rPr>
              <a:t>significativo</a:t>
            </a:r>
            <a:r>
              <a:rPr lang="en-US" sz="2000" dirty="0">
                <a:latin typeface="Arial" panose="020B0604020202020204" pitchFamily="34" charset="0"/>
                <a:ea typeface="Roboto Black" panose="02000000000000000000" pitchFamily="2" charset="0"/>
                <a:cs typeface="Arial" panose="020B0604020202020204" pitchFamily="34" charset="0"/>
              </a:rPr>
              <a:t>.</a:t>
            </a:r>
          </a:p>
          <a:p>
            <a:endParaRPr lang="en-US" sz="1600" dirty="0">
              <a:ea typeface="Roboto Black" panose="02000000000000000000" pitchFamily="2" charset="0"/>
              <a:cs typeface="Arial" panose="020B0604020202020204" pitchFamily="34" charset="0"/>
            </a:endParaRPr>
          </a:p>
          <a:p>
            <a:r>
              <a:rPr lang="en-US" sz="2000" dirty="0">
                <a:latin typeface="Arial" panose="020B0604020202020204" pitchFamily="34" charset="0"/>
                <a:ea typeface="Roboto Black" panose="02000000000000000000" pitchFamily="2" charset="0"/>
                <a:cs typeface="Arial" panose="020B0604020202020204" pitchFamily="34" charset="0"/>
              </a:rPr>
              <a:t>. </a:t>
            </a:r>
            <a:r>
              <a:rPr lang="en-US" sz="2000" b="1" dirty="0" err="1">
                <a:latin typeface="Arial" panose="020B0604020202020204" pitchFamily="34" charset="0"/>
                <a:ea typeface="Roboto Black" panose="02000000000000000000" pitchFamily="2" charset="0"/>
                <a:cs typeface="Arial" panose="020B0604020202020204" pitchFamily="34" charset="0"/>
              </a:rPr>
              <a:t>Segmentos</a:t>
            </a:r>
            <a:r>
              <a:rPr lang="en-US" sz="2000" b="1" dirty="0">
                <a:latin typeface="Arial" panose="020B0604020202020204" pitchFamily="34" charset="0"/>
                <a:ea typeface="Roboto Black" panose="02000000000000000000" pitchFamily="2" charset="0"/>
                <a:cs typeface="Arial" panose="020B0604020202020204" pitchFamily="34" charset="0"/>
              </a:rPr>
              <a:t> de </a:t>
            </a:r>
            <a:r>
              <a:rPr lang="en-US" sz="2000" b="1" dirty="0" err="1">
                <a:latin typeface="Arial" panose="020B0604020202020204" pitchFamily="34" charset="0"/>
                <a:ea typeface="Roboto Black" panose="02000000000000000000" pitchFamily="2" charset="0"/>
                <a:cs typeface="Arial" panose="020B0604020202020204" pitchFamily="34" charset="0"/>
              </a:rPr>
              <a:t>Cliente</a:t>
            </a:r>
            <a:r>
              <a:rPr lang="en-US" sz="2000" b="1" dirty="0">
                <a:latin typeface="Arial" panose="020B0604020202020204" pitchFamily="34" charset="0"/>
                <a:ea typeface="Roboto Black" panose="02000000000000000000" pitchFamily="2" charset="0"/>
                <a:cs typeface="Arial" panose="020B0604020202020204" pitchFamily="34" charset="0"/>
              </a:rPr>
              <a:t> </a:t>
            </a:r>
            <a:r>
              <a:rPr lang="en-US" sz="1600" b="1" dirty="0">
                <a:ea typeface="Roboto Black" panose="02000000000000000000" pitchFamily="2" charset="0"/>
                <a:cs typeface="Arial" panose="020B0604020202020204" pitchFamily="34" charset="0"/>
              </a:rPr>
              <a:t>:</a:t>
            </a:r>
          </a:p>
          <a:p>
            <a:r>
              <a:rPr lang="en-US" b="1"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Prosumidores</a:t>
            </a:r>
            <a:r>
              <a:rPr lang="en-US"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Estrato</a:t>
            </a:r>
            <a:r>
              <a:rPr lang="en-US" dirty="0">
                <a:latin typeface="Arial" panose="020B0604020202020204" pitchFamily="34" charset="0"/>
                <a:ea typeface="Roboto Black" panose="02000000000000000000" pitchFamily="2" charset="0"/>
                <a:cs typeface="Arial" panose="020B0604020202020204" pitchFamily="34" charset="0"/>
              </a:rPr>
              <a:t> 4-6) y </a:t>
            </a:r>
            <a:r>
              <a:rPr lang="en-US" dirty="0" err="1">
                <a:latin typeface="Arial" panose="020B0604020202020204" pitchFamily="34" charset="0"/>
                <a:ea typeface="Roboto Black" panose="02000000000000000000" pitchFamily="2" charset="0"/>
                <a:cs typeface="Arial" panose="020B0604020202020204" pitchFamily="34" charset="0"/>
              </a:rPr>
              <a:t>consumidores</a:t>
            </a:r>
            <a:r>
              <a:rPr lang="en-US"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en</a:t>
            </a:r>
            <a:r>
              <a:rPr lang="en-US"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pobreza</a:t>
            </a:r>
            <a:r>
              <a:rPr lang="en-US"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energética</a:t>
            </a:r>
            <a:r>
              <a:rPr lang="en-US"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Estrato</a:t>
            </a:r>
            <a:r>
              <a:rPr lang="en-US" dirty="0">
                <a:latin typeface="Arial" panose="020B0604020202020204" pitchFamily="34" charset="0"/>
                <a:ea typeface="Roboto Black" panose="02000000000000000000" pitchFamily="2" charset="0"/>
                <a:cs typeface="Arial" panose="020B0604020202020204" pitchFamily="34" charset="0"/>
              </a:rPr>
              <a:t> 1-3).</a:t>
            </a:r>
          </a:p>
          <a:p>
            <a:endParaRPr lang="en-US" sz="1600" dirty="0">
              <a:ea typeface="Roboto Black" panose="02000000000000000000" pitchFamily="2" charset="0"/>
              <a:cs typeface="Arial" panose="020B0604020202020204" pitchFamily="34" charset="0"/>
            </a:endParaRPr>
          </a:p>
          <a:p>
            <a:r>
              <a:rPr lang="en-US" sz="1600" dirty="0">
                <a:ea typeface="Roboto Black" panose="02000000000000000000" pitchFamily="2" charset="0"/>
                <a:cs typeface="Arial" panose="020B0604020202020204" pitchFamily="34" charset="0"/>
              </a:rPr>
              <a:t>. </a:t>
            </a:r>
            <a:r>
              <a:rPr lang="en-US" sz="2000" b="1" dirty="0">
                <a:latin typeface="Arial" panose="020B0604020202020204" pitchFamily="34" charset="0"/>
                <a:ea typeface="Roboto Black" panose="02000000000000000000" pitchFamily="2" charset="0"/>
                <a:cs typeface="Arial" panose="020B0604020202020204" pitchFamily="34" charset="0"/>
              </a:rPr>
              <a:t>Fuentes de </a:t>
            </a:r>
            <a:r>
              <a:rPr lang="en-US" sz="2000" b="1" dirty="0" err="1">
                <a:latin typeface="Arial" panose="020B0604020202020204" pitchFamily="34" charset="0"/>
                <a:ea typeface="Roboto Black" panose="02000000000000000000" pitchFamily="2" charset="0"/>
                <a:cs typeface="Arial" panose="020B0604020202020204" pitchFamily="34" charset="0"/>
              </a:rPr>
              <a:t>Ingreso</a:t>
            </a:r>
            <a:r>
              <a:rPr lang="en-US" sz="2000" b="1" dirty="0">
                <a:latin typeface="Arial" panose="020B0604020202020204" pitchFamily="34" charset="0"/>
                <a:ea typeface="Roboto Black" panose="02000000000000000000" pitchFamily="2" charset="0"/>
                <a:cs typeface="Arial" panose="020B0604020202020204" pitchFamily="34" charset="0"/>
              </a:rPr>
              <a:t>:</a:t>
            </a:r>
          </a:p>
          <a:p>
            <a:r>
              <a:rPr lang="en-US" sz="1600" b="1" dirty="0">
                <a:ea typeface="Roboto Black" panose="02000000000000000000" pitchFamily="2" charset="0"/>
                <a:cs typeface="Arial" panose="020B0604020202020204" pitchFamily="34" charset="0"/>
              </a:rPr>
              <a:t> 	</a:t>
            </a:r>
            <a:r>
              <a:rPr lang="en-US" dirty="0">
                <a:latin typeface="Arial" panose="020B0604020202020204" pitchFamily="34" charset="0"/>
                <a:ea typeface="Roboto Black" panose="02000000000000000000" pitchFamily="2" charset="0"/>
                <a:cs typeface="Arial" panose="020B0604020202020204" pitchFamily="34" charset="0"/>
              </a:rPr>
              <a:t>C</a:t>
            </a:r>
            <a:r>
              <a:rPr lang="es-CO" dirty="0">
                <a:latin typeface="Arial" panose="020B0604020202020204" pitchFamily="34" charset="0"/>
                <a:cs typeface="Arial" panose="020B0604020202020204" pitchFamily="34" charset="0"/>
              </a:rPr>
              <a:t>omisiones por transacciones P2P,  Certificación por energías limpias (</a:t>
            </a:r>
            <a:r>
              <a:rPr lang="es-MX" u="none" strike="noStrike" dirty="0">
                <a:effectLst/>
                <a:latin typeface="Arial" panose="020B0604020202020204" pitchFamily="34" charset="0"/>
                <a:cs typeface="Arial" panose="020B0604020202020204" pitchFamily="34" charset="0"/>
              </a:rPr>
              <a:t>I-REC:</a:t>
            </a:r>
            <a:r>
              <a:rPr lang="es-MX" dirty="0">
                <a:latin typeface="Arial" panose="020B0604020202020204" pitchFamily="34" charset="0"/>
                <a:cs typeface="Arial" panose="020B0604020202020204" pitchFamily="34" charset="0"/>
              </a:rPr>
              <a:t> 	Estándar internacional para países en América Latina, Asia y África).</a:t>
            </a:r>
            <a:endParaRPr lang="en-US" dirty="0">
              <a:latin typeface="Arial" panose="020B0604020202020204" pitchFamily="34" charset="0"/>
              <a:ea typeface="Roboto Black" panose="02000000000000000000" pitchFamily="2" charset="0"/>
              <a:cs typeface="Arial" panose="020B0604020202020204" pitchFamily="34" charset="0"/>
            </a:endParaRPr>
          </a:p>
          <a:p>
            <a:endParaRPr lang="en-US" sz="1600" dirty="0">
              <a:latin typeface="Arial" panose="020B0604020202020204" pitchFamily="34" charset="0"/>
              <a:ea typeface="Roboto Black" panose="02000000000000000000" pitchFamily="2" charset="0"/>
              <a:cs typeface="Arial" panose="020B0604020202020204" pitchFamily="34" charset="0"/>
            </a:endParaRPr>
          </a:p>
          <a:p>
            <a:r>
              <a:rPr lang="en-US" sz="2000" dirty="0">
                <a:latin typeface="Arial" panose="020B0604020202020204" pitchFamily="34" charset="0"/>
                <a:ea typeface="Roboto Black" panose="02000000000000000000" pitchFamily="2" charset="0"/>
                <a:cs typeface="Arial" panose="020B0604020202020204" pitchFamily="34" charset="0"/>
              </a:rPr>
              <a:t>. </a:t>
            </a:r>
            <a:r>
              <a:rPr lang="en-US" sz="2000" b="1" dirty="0">
                <a:latin typeface="Arial" panose="020B0604020202020204" pitchFamily="34" charset="0"/>
                <a:ea typeface="Roboto Black" panose="02000000000000000000" pitchFamily="2" charset="0"/>
                <a:cs typeface="Arial" panose="020B0604020202020204" pitchFamily="34" charset="0"/>
              </a:rPr>
              <a:t>Canales:</a:t>
            </a:r>
          </a:p>
          <a:p>
            <a:r>
              <a:rPr lang="en-US" sz="1600" b="1" dirty="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Plataformas</a:t>
            </a:r>
            <a:r>
              <a:rPr lang="en-US"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digitales</a:t>
            </a:r>
            <a:r>
              <a:rPr lang="en-US"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gestión</a:t>
            </a:r>
            <a:r>
              <a:rPr lang="en-US" dirty="0">
                <a:latin typeface="Arial" panose="020B0604020202020204" pitchFamily="34" charset="0"/>
                <a:ea typeface="Roboto Black" panose="02000000000000000000" pitchFamily="2" charset="0"/>
                <a:cs typeface="Arial" panose="020B0604020202020204" pitchFamily="34" charset="0"/>
              </a:rPr>
              <a:t> de </a:t>
            </a:r>
            <a:r>
              <a:rPr lang="en-US" dirty="0" err="1">
                <a:latin typeface="Arial" panose="020B0604020202020204" pitchFamily="34" charset="0"/>
                <a:ea typeface="Roboto Black" panose="02000000000000000000" pitchFamily="2" charset="0"/>
                <a:cs typeface="Arial" panose="020B0604020202020204" pitchFamily="34" charset="0"/>
              </a:rPr>
              <a:t>energía</a:t>
            </a:r>
            <a:r>
              <a:rPr lang="en-US" dirty="0">
                <a:latin typeface="Arial" panose="020B0604020202020204" pitchFamily="34" charset="0"/>
                <a:ea typeface="Roboto Black" panose="02000000000000000000" pitchFamily="2" charset="0"/>
                <a:cs typeface="Arial" panose="020B0604020202020204" pitchFamily="34" charset="0"/>
              </a:rPr>
              <a:t>  y </a:t>
            </a:r>
            <a:r>
              <a:rPr lang="en-US" dirty="0" err="1">
                <a:latin typeface="Arial" panose="020B0604020202020204" pitchFamily="34" charset="0"/>
                <a:ea typeface="Roboto Black" panose="02000000000000000000" pitchFamily="2" charset="0"/>
                <a:cs typeface="Arial" panose="020B0604020202020204" pitchFamily="34" charset="0"/>
              </a:rPr>
              <a:t>aplicaciones</a:t>
            </a:r>
            <a:r>
              <a:rPr lang="en-US" dirty="0">
                <a:latin typeface="Arial" panose="020B0604020202020204" pitchFamily="34" charset="0"/>
                <a:ea typeface="Roboto Black" panose="02000000000000000000" pitchFamily="2" charset="0"/>
                <a:cs typeface="Arial" panose="020B0604020202020204" pitchFamily="34" charset="0"/>
              </a:rPr>
              <a:t> </a:t>
            </a:r>
            <a:r>
              <a:rPr lang="en-US" dirty="0" err="1">
                <a:latin typeface="Arial" panose="020B0604020202020204" pitchFamily="34" charset="0"/>
                <a:ea typeface="Roboto Black" panose="02000000000000000000" pitchFamily="2" charset="0"/>
                <a:cs typeface="Arial" panose="020B0604020202020204" pitchFamily="34" charset="0"/>
              </a:rPr>
              <a:t>móviles</a:t>
            </a:r>
            <a:r>
              <a:rPr lang="en-US" dirty="0">
                <a:latin typeface="Arial" panose="020B0604020202020204" pitchFamily="34" charset="0"/>
                <a:ea typeface="Roboto Black" panose="02000000000000000000" pitchFamily="2" charset="0"/>
                <a:cs typeface="Arial" panose="020B0604020202020204" pitchFamily="34" charset="0"/>
              </a:rPr>
              <a:t>. </a:t>
            </a:r>
            <a:endParaRPr lang="en-US" b="1" dirty="0">
              <a:latin typeface="Arial" panose="020B0604020202020204" pitchFamily="34" charset="0"/>
              <a:ea typeface="Roboto Black" panose="02000000000000000000" pitchFamily="2" charset="0"/>
              <a:cs typeface="Arial" panose="020B0604020202020204" pitchFamily="34" charset="0"/>
            </a:endParaRPr>
          </a:p>
          <a:p>
            <a:endParaRPr lang="en-US" sz="1600" dirty="0">
              <a:latin typeface="Arial" panose="020B0604020202020204" pitchFamily="34" charset="0"/>
              <a:ea typeface="Roboto Black" panose="02000000000000000000" pitchFamily="2" charset="0"/>
              <a:cs typeface="Arial" panose="020B0604020202020204" pitchFamily="34" charset="0"/>
            </a:endParaRPr>
          </a:p>
          <a:p>
            <a:r>
              <a:rPr lang="en-US" sz="1800" dirty="0">
                <a:latin typeface="Arial" panose="020B0604020202020204" pitchFamily="34" charset="0"/>
                <a:ea typeface="Roboto Black" panose="02000000000000000000" pitchFamily="2" charset="0"/>
                <a:cs typeface="Arial" panose="020B0604020202020204" pitchFamily="34" charset="0"/>
              </a:rPr>
              <a:t> </a:t>
            </a:r>
            <a:endParaRPr lang="es-CO" dirty="0"/>
          </a:p>
        </p:txBody>
      </p:sp>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285337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ángulo 1">
            <a:extLst>
              <a:ext uri="{FF2B5EF4-FFF2-40B4-BE49-F238E27FC236}">
                <a16:creationId xmlns:a16="http://schemas.microsoft.com/office/drawing/2014/main" id="{AAEA9A76-D495-4A0D-AE5A-1E20DC650965}"/>
              </a:ext>
            </a:extLst>
          </p:cNvPr>
          <p:cNvSpPr/>
          <p:nvPr/>
        </p:nvSpPr>
        <p:spPr>
          <a:xfrm>
            <a:off x="548709" y="1351849"/>
            <a:ext cx="5198754" cy="2631490"/>
          </a:xfrm>
          <a:prstGeom prst="rect">
            <a:avLst/>
          </a:prstGeom>
        </p:spPr>
        <p:txBody>
          <a:bodyPr wrap="square">
            <a:spAutoFit/>
          </a:bodyPr>
          <a:lstStyle/>
          <a:p>
            <a:pPr algn="just"/>
            <a:r>
              <a:rPr lang="es-MX" sz="1500" dirty="0">
                <a:effectLst/>
                <a:latin typeface="Arial" panose="020B0604020202020204" pitchFamily="34" charset="0"/>
                <a:ea typeface="Calibri" panose="020F0502020204030204" pitchFamily="34" charset="0"/>
                <a:cs typeface="Arial" panose="020B0604020202020204" pitchFamily="34" charset="0"/>
              </a:rPr>
              <a:t>La transición energética justa constituye uno de los mayores desafíos a nivel Global. La dependencia histórica de combustibles fósiles ha generado impactos negativos ambientales severos, inclusión energética (Pobreza energética), además de perpetuar inequidades sociales al concentrar el control de la energía en grandes operadores. En este contexto, la gestión adecuada de excedentes (Venta e Intercambio) energéticos renovables se convierte en un instrumento estratégico para democratizar el acceso, reducir la pobreza energética y fortalecer la resiliencia comunitaria.</a:t>
            </a:r>
            <a:endParaRPr lang="es-CO" sz="1500" dirty="0">
              <a:effectLst/>
              <a:latin typeface="Arial" panose="020B0604020202020204" pitchFamily="34" charset="0"/>
              <a:ea typeface="Calibri" panose="020F0502020204030204" pitchFamily="34" charset="0"/>
              <a:cs typeface="Arial" panose="020B0604020202020204" pitchFamily="34" charset="0"/>
            </a:endParaRPr>
          </a:p>
        </p:txBody>
      </p:sp>
      <p:sp>
        <p:nvSpPr>
          <p:cNvPr id="7" name="CuadroTexto 6">
            <a:extLst>
              <a:ext uri="{FF2B5EF4-FFF2-40B4-BE49-F238E27FC236}">
                <a16:creationId xmlns:a16="http://schemas.microsoft.com/office/drawing/2014/main" id="{E5A163D7-7D03-408D-AFBA-C81C0C8FFD8E}"/>
              </a:ext>
            </a:extLst>
          </p:cNvPr>
          <p:cNvSpPr txBox="1"/>
          <p:nvPr/>
        </p:nvSpPr>
        <p:spPr>
          <a:xfrm>
            <a:off x="550604" y="926374"/>
            <a:ext cx="6096000" cy="369332"/>
          </a:xfrm>
          <a:prstGeom prst="rect">
            <a:avLst/>
          </a:prstGeom>
          <a:noFill/>
        </p:spPr>
        <p:txBody>
          <a:bodyPr wrap="square">
            <a:spAutoFit/>
          </a:bodyPr>
          <a:lstStyle/>
          <a:p>
            <a:r>
              <a:rPr lang="es-ES" sz="1800" b="1" dirty="0">
                <a:latin typeface="Arial" panose="020B0604020202020204" pitchFamily="34" charset="0"/>
                <a:cs typeface="Arial" panose="020B0604020202020204" pitchFamily="34" charset="0"/>
              </a:rPr>
              <a:t>JUSTIFICACIÓN</a:t>
            </a:r>
            <a:r>
              <a:rPr lang="es-ES" sz="1400" b="1" dirty="0">
                <a:latin typeface="Arial" panose="020B0604020202020204" pitchFamily="34" charset="0"/>
                <a:cs typeface="Arial" panose="020B0604020202020204" pitchFamily="34" charset="0"/>
              </a:rPr>
              <a:t>:</a:t>
            </a:r>
          </a:p>
        </p:txBody>
      </p:sp>
      <p:sp>
        <p:nvSpPr>
          <p:cNvPr id="9" name="CuadroTexto 8">
            <a:extLst>
              <a:ext uri="{FF2B5EF4-FFF2-40B4-BE49-F238E27FC236}">
                <a16:creationId xmlns:a16="http://schemas.microsoft.com/office/drawing/2014/main" id="{5EDFEB54-138A-4736-9A63-6007AD0B2484}"/>
              </a:ext>
            </a:extLst>
          </p:cNvPr>
          <p:cNvSpPr txBox="1"/>
          <p:nvPr/>
        </p:nvSpPr>
        <p:spPr>
          <a:xfrm>
            <a:off x="550604" y="4391912"/>
            <a:ext cx="11238276" cy="1477328"/>
          </a:xfrm>
          <a:prstGeom prst="rect">
            <a:avLst/>
          </a:prstGeom>
          <a:noFill/>
        </p:spPr>
        <p:txBody>
          <a:bodyPr wrap="square">
            <a:spAutoFit/>
          </a:bodyPr>
          <a:lstStyle/>
          <a:p>
            <a:pPr algn="just"/>
            <a:r>
              <a:rPr lang="es-CO" sz="1500" dirty="0">
                <a:latin typeface="Arial" panose="020B0604020202020204" pitchFamily="34" charset="0"/>
                <a:cs typeface="Arial" panose="020B0604020202020204" pitchFamily="34" charset="0"/>
              </a:rPr>
              <a:t>El proyecto EQUIVATIA responde a esta necesidad mediante la creación de un ecosistema digital P2P, que nace como una respuesta sociotécnica ineludible a la urgencia a una transición energética justa, inclusiva y estructural para Colombia. Más allá de ser una simple plataforma de intercambio (Venta - Compra), EQUIVATIA representa una transformación productiva a nivel nacional impulsada por la ciencia de datos, el modelado algorítmico y el diseño centrado en las personas; que permitirá a pequeños productores (fincas solares, cooperativas rurales, industrias con biomasa) comercialicen directamente sus excedentes con consumidores locales.</a:t>
            </a:r>
          </a:p>
        </p:txBody>
      </p:sp>
      <p:pic>
        <p:nvPicPr>
          <p:cNvPr id="11" name="Imagen 10">
            <a:extLst>
              <a:ext uri="{FF2B5EF4-FFF2-40B4-BE49-F238E27FC236}">
                <a16:creationId xmlns:a16="http://schemas.microsoft.com/office/drawing/2014/main" id="{07F7AA75-DFF7-4144-9AE6-D1C62BE739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50411" y="1421971"/>
            <a:ext cx="5692880" cy="2883004"/>
          </a:xfrm>
          <a:prstGeom prst="rect">
            <a:avLst/>
          </a:prstGeom>
        </p:spPr>
      </p:pic>
      <p:pic>
        <p:nvPicPr>
          <p:cNvPr id="14" name="Imagen 13">
            <a:extLst>
              <a:ext uri="{FF2B5EF4-FFF2-40B4-BE49-F238E27FC236}">
                <a16:creationId xmlns:a16="http://schemas.microsoft.com/office/drawing/2014/main" id="{8D0E2FEF-B9AA-496C-A5F4-A18DFC0438D8}"/>
              </a:ext>
            </a:extLst>
          </p:cNvPr>
          <p:cNvPicPr>
            <a:picLocks noChangeAspect="1"/>
          </p:cNvPicPr>
          <p:nvPr/>
        </p:nvPicPr>
        <p:blipFill rotWithShape="1">
          <a:blip r:embed="rId5">
            <a:extLst>
              <a:ext uri="{28A0092B-C50C-407E-A947-70E740481C1C}">
                <a14:useLocalDpi xmlns:a14="http://schemas.microsoft.com/office/drawing/2010/main" val="0"/>
              </a:ext>
            </a:extLst>
          </a:blip>
          <a:srcRect l="32510" t="16420" r="31686" b="10686"/>
          <a:stretch/>
        </p:blipFill>
        <p:spPr>
          <a:xfrm>
            <a:off x="8310156" y="542417"/>
            <a:ext cx="1099313" cy="932014"/>
          </a:xfrm>
          <a:prstGeom prst="rect">
            <a:avLst/>
          </a:prstGeom>
        </p:spPr>
      </p:pic>
    </p:spTree>
    <p:custDataLst>
      <p:tags r:id="rId1"/>
    </p:custDataLst>
    <p:extLst>
      <p:ext uri="{BB962C8B-B14F-4D97-AF65-F5344CB8AC3E}">
        <p14:creationId xmlns:p14="http://schemas.microsoft.com/office/powerpoint/2010/main" val="710650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E90B4249-ED04-0453-12F1-E21CFD129839}"/>
              </a:ext>
            </a:extLst>
          </p:cNvPr>
          <p:cNvSpPr txBox="1"/>
          <p:nvPr/>
        </p:nvSpPr>
        <p:spPr>
          <a:xfrm>
            <a:off x="1452836" y="625454"/>
            <a:ext cx="9785440" cy="892552"/>
          </a:xfrm>
          <a:prstGeom prst="rect">
            <a:avLst/>
          </a:prstGeom>
          <a:noFill/>
        </p:spPr>
        <p:txBody>
          <a:bodyPr wrap="square">
            <a:spAutoFit/>
          </a:bodyPr>
          <a:lstStyle/>
          <a:p>
            <a:pPr algn="ctr"/>
            <a:r>
              <a:rPr lang="es-ES" sz="1800" b="1" dirty="0">
                <a:effectLst/>
                <a:latin typeface="Times New Roman" panose="02020603050405020304" pitchFamily="18" charset="0"/>
                <a:ea typeface="Calibri" panose="020F0502020204030204" pitchFamily="34" charset="0"/>
              </a:rPr>
              <a:t>METODOLOGÍA (HERRAMIENTAS DE EJECUCIÓN) </a:t>
            </a:r>
            <a:endParaRPr lang="es-CO" sz="1800" dirty="0">
              <a:effectLst/>
              <a:latin typeface="Calibri" panose="020F0502020204030204" pitchFamily="34" charset="0"/>
              <a:ea typeface="Calibri" panose="020F0502020204030204" pitchFamily="34" charset="0"/>
            </a:endParaRPr>
          </a:p>
          <a:p>
            <a:endParaRPr lang="en-US" sz="1600" dirty="0">
              <a:latin typeface="Arial" panose="020B0604020202020204" pitchFamily="34" charset="0"/>
              <a:ea typeface="Roboto Black" panose="02000000000000000000" pitchFamily="2" charset="0"/>
              <a:cs typeface="Arial" panose="020B0604020202020204" pitchFamily="34" charset="0"/>
            </a:endParaRPr>
          </a:p>
          <a:p>
            <a:r>
              <a:rPr lang="en-US" sz="1800" dirty="0">
                <a:latin typeface="Arial" panose="020B0604020202020204" pitchFamily="34" charset="0"/>
                <a:ea typeface="Roboto Black" panose="02000000000000000000" pitchFamily="2" charset="0"/>
                <a:cs typeface="Arial" panose="020B0604020202020204" pitchFamily="34" charset="0"/>
              </a:rPr>
              <a:t> </a:t>
            </a:r>
            <a:endParaRPr lang="es-CO" dirty="0"/>
          </a:p>
        </p:txBody>
      </p:sp>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graphicFrame>
        <p:nvGraphicFramePr>
          <p:cNvPr id="5" name="Tabla 4">
            <a:extLst>
              <a:ext uri="{FF2B5EF4-FFF2-40B4-BE49-F238E27FC236}">
                <a16:creationId xmlns:a16="http://schemas.microsoft.com/office/drawing/2014/main" id="{D12DDAB2-71A0-4716-BCEF-DA4602810F18}"/>
              </a:ext>
            </a:extLst>
          </p:cNvPr>
          <p:cNvGraphicFramePr>
            <a:graphicFrameLocks noGrp="1"/>
          </p:cNvGraphicFramePr>
          <p:nvPr>
            <p:extLst>
              <p:ext uri="{D42A27DB-BD31-4B8C-83A1-F6EECF244321}">
                <p14:modId xmlns:p14="http://schemas.microsoft.com/office/powerpoint/2010/main" val="3816001491"/>
              </p:ext>
            </p:extLst>
          </p:nvPr>
        </p:nvGraphicFramePr>
        <p:xfrm>
          <a:off x="963560" y="1101226"/>
          <a:ext cx="10552356" cy="4916118"/>
        </p:xfrm>
        <a:graphic>
          <a:graphicData uri="http://schemas.openxmlformats.org/drawingml/2006/table">
            <a:tbl>
              <a:tblPr firstRow="1" firstCol="1" bandRow="1">
                <a:tableStyleId>{5C22544A-7EE6-4342-B048-85BDC9FD1C3A}</a:tableStyleId>
              </a:tblPr>
              <a:tblGrid>
                <a:gridCol w="2290135">
                  <a:extLst>
                    <a:ext uri="{9D8B030D-6E8A-4147-A177-3AD203B41FA5}">
                      <a16:colId xmlns:a16="http://schemas.microsoft.com/office/drawing/2014/main" val="4107691480"/>
                    </a:ext>
                  </a:extLst>
                </a:gridCol>
                <a:gridCol w="3719436">
                  <a:extLst>
                    <a:ext uri="{9D8B030D-6E8A-4147-A177-3AD203B41FA5}">
                      <a16:colId xmlns:a16="http://schemas.microsoft.com/office/drawing/2014/main" val="3171961412"/>
                    </a:ext>
                  </a:extLst>
                </a:gridCol>
                <a:gridCol w="2656205">
                  <a:extLst>
                    <a:ext uri="{9D8B030D-6E8A-4147-A177-3AD203B41FA5}">
                      <a16:colId xmlns:a16="http://schemas.microsoft.com/office/drawing/2014/main" val="550051283"/>
                    </a:ext>
                  </a:extLst>
                </a:gridCol>
                <a:gridCol w="1886580">
                  <a:extLst>
                    <a:ext uri="{9D8B030D-6E8A-4147-A177-3AD203B41FA5}">
                      <a16:colId xmlns:a16="http://schemas.microsoft.com/office/drawing/2014/main" val="3013489593"/>
                    </a:ext>
                  </a:extLst>
                </a:gridCol>
              </a:tblGrid>
              <a:tr h="326679">
                <a:tc>
                  <a:txBody>
                    <a:bodyPr/>
                    <a:lstStyle/>
                    <a:p>
                      <a:pPr algn="ctr"/>
                      <a:r>
                        <a:rPr lang="es-ES" sz="900">
                          <a:effectLst/>
                        </a:rPr>
                        <a:t>Fase</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ctr"/>
                      <a:r>
                        <a:rPr lang="es-ES" sz="900">
                          <a:effectLst/>
                        </a:rPr>
                        <a:t>Actividades Clave</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ctr"/>
                      <a:r>
                        <a:rPr lang="es-ES" sz="900">
                          <a:effectLst/>
                        </a:rPr>
                        <a:t>Resultados Esperados</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ctr"/>
                      <a:r>
                        <a:rPr lang="es-ES" sz="900">
                          <a:effectLst/>
                        </a:rPr>
                        <a:t>Responsables</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extLst>
                  <a:ext uri="{0D108BD9-81ED-4DB2-BD59-A6C34878D82A}">
                    <a16:rowId xmlns:a16="http://schemas.microsoft.com/office/drawing/2014/main" val="3097806558"/>
                  </a:ext>
                </a:extLst>
              </a:tr>
              <a:tr h="917888">
                <a:tc>
                  <a:txBody>
                    <a:bodyPr/>
                    <a:lstStyle/>
                    <a:p>
                      <a:pPr algn="l"/>
                      <a:r>
                        <a:rPr lang="es-ES" sz="900">
                          <a:effectLst/>
                        </a:rPr>
                        <a:t>1. Documentación e Investigación</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marL="171450" indent="-171450" algn="l">
                        <a:buFontTx/>
                        <a:buChar char="-"/>
                      </a:pPr>
                      <a:r>
                        <a:rPr lang="es-ES" sz="900" dirty="0">
                          <a:effectLst/>
                        </a:rPr>
                        <a:t>Revisión de literatura sobre IA y energía renovable. </a:t>
                      </a:r>
                    </a:p>
                    <a:p>
                      <a:pPr marL="171450" indent="-171450" algn="l">
                        <a:buFontTx/>
                        <a:buChar char="-"/>
                      </a:pPr>
                      <a:r>
                        <a:rPr lang="es-ES" sz="900" dirty="0">
                          <a:effectLst/>
                        </a:rPr>
                        <a:t>Análisis de políticas nacionales e internacionales.</a:t>
                      </a:r>
                    </a:p>
                    <a:p>
                      <a:pPr marL="171450" indent="-171450" algn="l">
                        <a:buFontTx/>
                        <a:buChar char="-"/>
                      </a:pPr>
                      <a:r>
                        <a:rPr lang="es-ES" sz="900" dirty="0">
                          <a:effectLst/>
                        </a:rPr>
                        <a:t>Identificación de casos de éxito en Marketplace energéticos.</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Informe técnico con fundamentos académicos, regulatorios y sociales.</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Equipo de investigación, asesores legislativos, academia.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extLst>
                  <a:ext uri="{0D108BD9-81ED-4DB2-BD59-A6C34878D82A}">
                    <a16:rowId xmlns:a16="http://schemas.microsoft.com/office/drawing/2014/main" val="4120788200"/>
                  </a:ext>
                </a:extLst>
              </a:tr>
              <a:tr h="917888">
                <a:tc>
                  <a:txBody>
                    <a:bodyPr/>
                    <a:lstStyle/>
                    <a:p>
                      <a:pPr algn="l"/>
                      <a:r>
                        <a:rPr lang="es-ES" sz="900">
                          <a:effectLst/>
                        </a:rPr>
                        <a:t>2. Diseño del Modelo y Estructura de Datos</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marL="171450" indent="-171450" algn="l">
                        <a:buFontTx/>
                        <a:buChar char="-"/>
                      </a:pPr>
                      <a:r>
                        <a:rPr lang="es-ES" sz="900" dirty="0">
                          <a:effectLst/>
                        </a:rPr>
                        <a:t>Definición de arquitectura del Marketplace P2P.</a:t>
                      </a:r>
                    </a:p>
                    <a:p>
                      <a:pPr marL="171450" indent="-171450" algn="l">
                        <a:buFontTx/>
                        <a:buChar char="-"/>
                      </a:pPr>
                      <a:r>
                        <a:rPr lang="es-ES" sz="900" dirty="0">
                          <a:effectLst/>
                        </a:rPr>
                        <a:t>Planificación del ciclo de vida de ML.</a:t>
                      </a:r>
                    </a:p>
                    <a:p>
                      <a:pPr marL="171450" indent="-171450" algn="l">
                        <a:buFontTx/>
                        <a:buChar char="-"/>
                      </a:pPr>
                      <a:r>
                        <a:rPr lang="es-ES" sz="900" dirty="0">
                          <a:effectLst/>
                        </a:rPr>
                        <a:t>Selección de variables críticas (tarifas, subsidios, consumo, excedentes).</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Documento de diseño con estructura de datos y modelo conceptual.</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Científicos de datos, arquitectos de software, reguladores técnicos.</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extLst>
                  <a:ext uri="{0D108BD9-81ED-4DB2-BD59-A6C34878D82A}">
                    <a16:rowId xmlns:a16="http://schemas.microsoft.com/office/drawing/2014/main" val="3057571170"/>
                  </a:ext>
                </a:extLst>
              </a:tr>
              <a:tr h="1070869">
                <a:tc>
                  <a:txBody>
                    <a:bodyPr/>
                    <a:lstStyle/>
                    <a:p>
                      <a:pPr algn="l"/>
                      <a:r>
                        <a:rPr lang="es-ES" sz="900">
                          <a:effectLst/>
                        </a:rPr>
                        <a:t>3. Programación y Desarrollo</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marL="171450" indent="-171450" algn="l">
                        <a:buFontTx/>
                        <a:buChar char="-"/>
                      </a:pPr>
                      <a:r>
                        <a:rPr lang="es-ES" sz="900" dirty="0">
                          <a:effectLst/>
                        </a:rPr>
                        <a:t>Implementación en Python.</a:t>
                      </a:r>
                    </a:p>
                    <a:p>
                      <a:pPr marL="171450" indent="-171450" algn="l">
                        <a:buFontTx/>
                        <a:buChar char="-"/>
                      </a:pPr>
                      <a:r>
                        <a:rPr lang="es-ES" sz="900" dirty="0">
                          <a:effectLst/>
                        </a:rPr>
                        <a:t>Uso de librerías como Pandas, </a:t>
                      </a:r>
                      <a:r>
                        <a:rPr lang="es-ES" sz="900" dirty="0" err="1">
                          <a:effectLst/>
                        </a:rPr>
                        <a:t>Scikit-learn</a:t>
                      </a:r>
                      <a:r>
                        <a:rPr lang="es-ES" sz="900" dirty="0">
                          <a:effectLst/>
                        </a:rPr>
                        <a:t>, </a:t>
                      </a:r>
                      <a:r>
                        <a:rPr lang="es-ES" sz="900" dirty="0" err="1">
                          <a:effectLst/>
                        </a:rPr>
                        <a:t>TensorFlow</a:t>
                      </a:r>
                      <a:r>
                        <a:rPr lang="es-ES" sz="900" dirty="0">
                          <a:effectLst/>
                        </a:rPr>
                        <a:t>.</a:t>
                      </a:r>
                    </a:p>
                    <a:p>
                      <a:pPr marL="171450" indent="-171450" algn="l">
                        <a:buFontTx/>
                        <a:buChar char="-"/>
                      </a:pPr>
                      <a:r>
                        <a:rPr lang="es-ES" sz="900" dirty="0">
                          <a:effectLst/>
                        </a:rPr>
                        <a:t>Creación de algoritmos auditables para precios dinámicos y gestión de excedentes.</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Prototipo funcional del Marketplace con algoritmos entrenados.</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Equipo de IA, desarrolladores, ingenieros energéticos.</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extLst>
                  <a:ext uri="{0D108BD9-81ED-4DB2-BD59-A6C34878D82A}">
                    <a16:rowId xmlns:a16="http://schemas.microsoft.com/office/drawing/2014/main" val="2898673077"/>
                  </a:ext>
                </a:extLst>
              </a:tr>
              <a:tr h="917888">
                <a:tc>
                  <a:txBody>
                    <a:bodyPr/>
                    <a:lstStyle/>
                    <a:p>
                      <a:pPr algn="l"/>
                      <a:r>
                        <a:rPr lang="es-ES" sz="900">
                          <a:effectLst/>
                        </a:rPr>
                        <a:t>4. Validación y Pruebas</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marL="171450" indent="-171450" algn="l">
                        <a:buFontTx/>
                        <a:buChar char="-"/>
                      </a:pPr>
                      <a:r>
                        <a:rPr lang="es-ES" sz="900" dirty="0">
                          <a:effectLst/>
                        </a:rPr>
                        <a:t>Simulación con datos históricos y escenarios comunitarios.</a:t>
                      </a:r>
                    </a:p>
                    <a:p>
                      <a:pPr marL="171450" indent="-171450" algn="l">
                        <a:buFontTx/>
                        <a:buChar char="-"/>
                      </a:pPr>
                      <a:r>
                        <a:rPr lang="es-ES" sz="900" dirty="0">
                          <a:effectLst/>
                        </a:rPr>
                        <a:t>Evaluación de precisión, sesgos y sobreajuste.</a:t>
                      </a:r>
                    </a:p>
                    <a:p>
                      <a:pPr marL="171450" indent="-171450" algn="l">
                        <a:buFontTx/>
                        <a:buChar char="-"/>
                      </a:pPr>
                      <a:r>
                        <a:rPr lang="es-ES" sz="900" dirty="0">
                          <a:effectLst/>
                        </a:rPr>
                        <a:t>Pruebas de ciberseguridad y trazabilidad.</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Modelos validados con métricas de desempeño y confianza social.</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Equipo de validación, reguladores, comunidades piloto.</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extLst>
                  <a:ext uri="{0D108BD9-81ED-4DB2-BD59-A6C34878D82A}">
                    <a16:rowId xmlns:a16="http://schemas.microsoft.com/office/drawing/2014/main" val="3806265038"/>
                  </a:ext>
                </a:extLst>
              </a:tr>
              <a:tr h="764906">
                <a:tc>
                  <a:txBody>
                    <a:bodyPr/>
                    <a:lstStyle/>
                    <a:p>
                      <a:pPr algn="l"/>
                      <a:r>
                        <a:rPr lang="es-ES" sz="900">
                          <a:effectLst/>
                        </a:rPr>
                        <a:t>5. Socialización y Mejora Continua</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marL="171450" indent="-171450" algn="l">
                        <a:buFontTx/>
                        <a:buChar char="-"/>
                      </a:pPr>
                      <a:r>
                        <a:rPr lang="es-ES" sz="900" dirty="0">
                          <a:effectLst/>
                        </a:rPr>
                        <a:t>Presentación de resultados a </a:t>
                      </a:r>
                      <a:r>
                        <a:rPr lang="es-ES" sz="900" dirty="0" err="1">
                          <a:effectLst/>
                        </a:rPr>
                        <a:t>Stakeholders</a:t>
                      </a:r>
                      <a:r>
                        <a:rPr lang="es-ES" sz="900" dirty="0">
                          <a:effectLst/>
                        </a:rPr>
                        <a:t>.</a:t>
                      </a:r>
                    </a:p>
                    <a:p>
                      <a:pPr marL="171450" indent="-171450" algn="l">
                        <a:buFontTx/>
                        <a:buChar char="-"/>
                      </a:pPr>
                      <a:r>
                        <a:rPr lang="es-ES" sz="900" dirty="0">
                          <a:effectLst/>
                        </a:rPr>
                        <a:t>Talleres comunitarios para capacitación.</a:t>
                      </a:r>
                    </a:p>
                    <a:p>
                      <a:pPr marL="171450" indent="-171450" algn="l">
                        <a:buFontTx/>
                        <a:buChar char="-"/>
                      </a:pPr>
                      <a:r>
                        <a:rPr lang="es-ES" sz="900" dirty="0">
                          <a:effectLst/>
                        </a:rPr>
                        <a:t>Retroalimentación para ajustes del modelo.</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a:effectLst/>
                        </a:rPr>
                        <a:t>Informe de impacto social y ambiental. Plan de mejoras y escalabilidad regional.</a:t>
                      </a:r>
                      <a:endParaRPr lang="es-CO" sz="80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tc>
                  <a:txBody>
                    <a:bodyPr/>
                    <a:lstStyle/>
                    <a:p>
                      <a:pPr algn="l"/>
                      <a:r>
                        <a:rPr lang="es-ES" sz="900" dirty="0">
                          <a:effectLst/>
                        </a:rPr>
                        <a:t>Dirección del proyecto, sociedad civil, gobiernos locales.</a:t>
                      </a:r>
                      <a:endParaRPr lang="es-CO" sz="800" dirty="0">
                        <a:effectLst/>
                        <a:latin typeface="Calibri" panose="020F0502020204030204" pitchFamily="34" charset="0"/>
                        <a:ea typeface="Calibri" panose="020F0502020204030204" pitchFamily="34" charset="0"/>
                        <a:cs typeface="Times New Roman" panose="02020603050405020304" pitchFamily="18" charset="0"/>
                      </a:endParaRPr>
                    </a:p>
                  </a:txBody>
                  <a:tcPr marL="32911" marR="32911" marT="0" marB="0" anchor="ctr"/>
                </a:tc>
                <a:extLst>
                  <a:ext uri="{0D108BD9-81ED-4DB2-BD59-A6C34878D82A}">
                    <a16:rowId xmlns:a16="http://schemas.microsoft.com/office/drawing/2014/main" val="1953331746"/>
                  </a:ext>
                </a:extLst>
              </a:tr>
            </a:tbl>
          </a:graphicData>
        </a:graphic>
      </p:graphicFrame>
    </p:spTree>
    <p:custDataLst>
      <p:tags r:id="rId1"/>
    </p:custDataLst>
    <p:extLst>
      <p:ext uri="{BB962C8B-B14F-4D97-AF65-F5344CB8AC3E}">
        <p14:creationId xmlns:p14="http://schemas.microsoft.com/office/powerpoint/2010/main" val="93190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E90B4249-ED04-0453-12F1-E21CFD129839}"/>
              </a:ext>
            </a:extLst>
          </p:cNvPr>
          <p:cNvSpPr txBox="1"/>
          <p:nvPr/>
        </p:nvSpPr>
        <p:spPr>
          <a:xfrm>
            <a:off x="676083" y="1060154"/>
            <a:ext cx="9908527" cy="615553"/>
          </a:xfrm>
          <a:prstGeom prst="rect">
            <a:avLst/>
          </a:prstGeom>
          <a:noFill/>
        </p:spPr>
        <p:txBody>
          <a:bodyPr wrap="square">
            <a:spAutoFit/>
          </a:bodyPr>
          <a:lstStyle/>
          <a:p>
            <a:endParaRPr lang="en-US" sz="1600" dirty="0">
              <a:latin typeface="Arial" panose="020B0604020202020204" pitchFamily="34" charset="0"/>
              <a:ea typeface="Roboto Black" panose="02000000000000000000" pitchFamily="2" charset="0"/>
              <a:cs typeface="Arial" panose="020B0604020202020204" pitchFamily="34" charset="0"/>
            </a:endParaRPr>
          </a:p>
          <a:p>
            <a:r>
              <a:rPr lang="en-US" sz="1800" dirty="0">
                <a:latin typeface="Arial" panose="020B0604020202020204" pitchFamily="34" charset="0"/>
                <a:ea typeface="Roboto Black" panose="02000000000000000000" pitchFamily="2" charset="0"/>
                <a:cs typeface="Arial" panose="020B0604020202020204" pitchFamily="34" charset="0"/>
              </a:rPr>
              <a:t> </a:t>
            </a:r>
            <a:endParaRPr lang="es-CO" dirty="0"/>
          </a:p>
        </p:txBody>
      </p:sp>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B030F12F-9D61-42D5-8B80-DD879C3AFB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2839" y="980853"/>
            <a:ext cx="10766321" cy="4896293"/>
          </a:xfrm>
          <a:prstGeom prst="rect">
            <a:avLst/>
          </a:prstGeom>
        </p:spPr>
      </p:pic>
      <p:pic>
        <p:nvPicPr>
          <p:cNvPr id="7" name="Imagen 6">
            <a:extLst>
              <a:ext uri="{FF2B5EF4-FFF2-40B4-BE49-F238E27FC236}">
                <a16:creationId xmlns:a16="http://schemas.microsoft.com/office/drawing/2014/main" id="{0A5CAAAE-7EA7-4F68-B853-03EDDB7F4AFF}"/>
              </a:ext>
            </a:extLst>
          </p:cNvPr>
          <p:cNvPicPr>
            <a:picLocks noChangeAspect="1"/>
          </p:cNvPicPr>
          <p:nvPr/>
        </p:nvPicPr>
        <p:blipFill>
          <a:blip r:embed="rId5">
            <a:clrChange>
              <a:clrFrom>
                <a:srgbClr val="F9FAFC"/>
              </a:clrFrom>
              <a:clrTo>
                <a:srgbClr val="F9FAFC">
                  <a:alpha val="0"/>
                </a:srgbClr>
              </a:clrTo>
            </a:clrChange>
          </a:blip>
          <a:stretch>
            <a:fillRect/>
          </a:stretch>
        </p:blipFill>
        <p:spPr>
          <a:xfrm>
            <a:off x="5327184" y="3171350"/>
            <a:ext cx="1376516" cy="1163019"/>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3803186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544D3F6F-6964-4772-84D2-6535DE207F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916" y="727591"/>
            <a:ext cx="10871041" cy="5211942"/>
          </a:xfrm>
          <a:prstGeom prst="rect">
            <a:avLst/>
          </a:prstGeom>
        </p:spPr>
      </p:pic>
    </p:spTree>
    <p:custDataLst>
      <p:tags r:id="rId1"/>
    </p:custDataLst>
    <p:extLst>
      <p:ext uri="{BB962C8B-B14F-4D97-AF65-F5344CB8AC3E}">
        <p14:creationId xmlns:p14="http://schemas.microsoft.com/office/powerpoint/2010/main" val="287796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7609CEB8-42BF-4A58-802D-0258339BBE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507" y="698090"/>
            <a:ext cx="10935887" cy="5260259"/>
          </a:xfrm>
          <a:prstGeom prst="rect">
            <a:avLst/>
          </a:prstGeom>
        </p:spPr>
      </p:pic>
      <p:pic>
        <p:nvPicPr>
          <p:cNvPr id="7" name="Imagen 6">
            <a:extLst>
              <a:ext uri="{FF2B5EF4-FFF2-40B4-BE49-F238E27FC236}">
                <a16:creationId xmlns:a16="http://schemas.microsoft.com/office/drawing/2014/main" id="{5B247B34-1A1D-4B03-BED4-7872F4ADD793}"/>
              </a:ext>
            </a:extLst>
          </p:cNvPr>
          <p:cNvPicPr>
            <a:picLocks noChangeAspect="1"/>
          </p:cNvPicPr>
          <p:nvPr/>
        </p:nvPicPr>
        <p:blipFill>
          <a:blip r:embed="rId5"/>
          <a:stretch>
            <a:fillRect/>
          </a:stretch>
        </p:blipFill>
        <p:spPr>
          <a:xfrm>
            <a:off x="3529781" y="2900519"/>
            <a:ext cx="1533832" cy="1295935"/>
          </a:xfrm>
          <a:prstGeom prst="rect">
            <a:avLst/>
          </a:prstGeom>
        </p:spPr>
      </p:pic>
    </p:spTree>
    <p:custDataLst>
      <p:tags r:id="rId1"/>
    </p:custDataLst>
    <p:extLst>
      <p:ext uri="{BB962C8B-B14F-4D97-AF65-F5344CB8AC3E}">
        <p14:creationId xmlns:p14="http://schemas.microsoft.com/office/powerpoint/2010/main" val="3006677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4D85959C-2E15-4572-93D8-BF05D7998D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574" y="723787"/>
            <a:ext cx="10717161" cy="5162591"/>
          </a:xfrm>
          <a:prstGeom prst="rect">
            <a:avLst/>
          </a:prstGeom>
        </p:spPr>
      </p:pic>
    </p:spTree>
    <p:custDataLst>
      <p:tags r:id="rId1"/>
    </p:custDataLst>
    <p:extLst>
      <p:ext uri="{BB962C8B-B14F-4D97-AF65-F5344CB8AC3E}">
        <p14:creationId xmlns:p14="http://schemas.microsoft.com/office/powerpoint/2010/main" val="4222496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80B5-2D50-D588-FF85-222A1584F2C4}"/>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6DF00DD1-178D-79C7-2D5A-88370873C5D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57825AD2-7E66-AF76-EDDC-F3A503436B7A}"/>
              </a:ext>
            </a:extLst>
          </p:cNvPr>
          <p:cNvSpPr txBox="1"/>
          <p:nvPr/>
        </p:nvSpPr>
        <p:spPr>
          <a:xfrm>
            <a:off x="1025667" y="877675"/>
            <a:ext cx="6094638" cy="369332"/>
          </a:xfrm>
          <a:prstGeom prst="rect">
            <a:avLst/>
          </a:prstGeom>
          <a:noFill/>
        </p:spPr>
        <p:txBody>
          <a:bodyPr wrap="square">
            <a:spAutoFit/>
          </a:bodyPr>
          <a:lstStyle/>
          <a:p>
            <a:r>
              <a:rPr lang="en-US" sz="1800" b="1" dirty="0" err="1">
                <a:solidFill>
                  <a:srgbClr val="A08EF1"/>
                </a:solidFill>
                <a:latin typeface="Arial" panose="020B0604020202020204" pitchFamily="34" charset="0"/>
                <a:ea typeface="Roboto Black" panose="02000000000000000000" pitchFamily="2" charset="0"/>
                <a:cs typeface="Arial" panose="020B0604020202020204" pitchFamily="34" charset="0"/>
              </a:rPr>
              <a:t>Alcance</a:t>
            </a:r>
            <a:r>
              <a:rPr lang="en-U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 </a:t>
            </a:r>
            <a:endParaRPr lang="es-CO" dirty="0">
              <a:solidFill>
                <a:srgbClr val="A08EF1"/>
              </a:solidFill>
            </a:endParaRPr>
          </a:p>
        </p:txBody>
      </p:sp>
      <p:pic>
        <p:nvPicPr>
          <p:cNvPr id="5" name="Imagen 4">
            <a:extLst>
              <a:ext uri="{FF2B5EF4-FFF2-40B4-BE49-F238E27FC236}">
                <a16:creationId xmlns:a16="http://schemas.microsoft.com/office/drawing/2014/main" id="{538C31EF-13A1-4603-BEE5-51DEB4801A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2367" y="1456773"/>
            <a:ext cx="8287265" cy="4277102"/>
          </a:xfrm>
          <a:prstGeom prst="rect">
            <a:avLst/>
          </a:prstGeom>
        </p:spPr>
      </p:pic>
    </p:spTree>
    <p:custDataLst>
      <p:tags r:id="rId1"/>
    </p:custDataLst>
    <p:extLst>
      <p:ext uri="{BB962C8B-B14F-4D97-AF65-F5344CB8AC3E}">
        <p14:creationId xmlns:p14="http://schemas.microsoft.com/office/powerpoint/2010/main" val="1363597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71D235DC-7F42-40A0-A2EE-0E751DEC4A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6077" y="776747"/>
            <a:ext cx="10658169" cy="5053781"/>
          </a:xfrm>
          <a:prstGeom prst="rect">
            <a:avLst/>
          </a:prstGeom>
        </p:spPr>
      </p:pic>
    </p:spTree>
    <p:custDataLst>
      <p:tags r:id="rId1"/>
    </p:custDataLst>
    <p:extLst>
      <p:ext uri="{BB962C8B-B14F-4D97-AF65-F5344CB8AC3E}">
        <p14:creationId xmlns:p14="http://schemas.microsoft.com/office/powerpoint/2010/main" val="3095966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86B9951D-BE08-44A1-9C1C-7F3F4A65A5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7084" y="808183"/>
            <a:ext cx="10997380" cy="5044989"/>
          </a:xfrm>
          <a:prstGeom prst="rect">
            <a:avLst/>
          </a:prstGeom>
        </p:spPr>
      </p:pic>
    </p:spTree>
    <p:custDataLst>
      <p:tags r:id="rId1"/>
    </p:custDataLst>
    <p:extLst>
      <p:ext uri="{BB962C8B-B14F-4D97-AF65-F5344CB8AC3E}">
        <p14:creationId xmlns:p14="http://schemas.microsoft.com/office/powerpoint/2010/main" val="1652898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9266-94D4-E379-CC47-59C0B75CC950}"/>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B0B13922-F6E0-B8A9-3ADB-96175AA1241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CuadroTexto 2">
            <a:extLst>
              <a:ext uri="{FF2B5EF4-FFF2-40B4-BE49-F238E27FC236}">
                <a16:creationId xmlns:a16="http://schemas.microsoft.com/office/drawing/2014/main" id="{5989C9C0-A9B9-E8DC-0C20-51067E8AB9C8}"/>
              </a:ext>
            </a:extLst>
          </p:cNvPr>
          <p:cNvSpPr txBox="1"/>
          <p:nvPr/>
        </p:nvSpPr>
        <p:spPr>
          <a:xfrm>
            <a:off x="3048681" y="241030"/>
            <a:ext cx="6094638" cy="646331"/>
          </a:xfrm>
          <a:prstGeom prst="rect">
            <a:avLst/>
          </a:prstGeom>
          <a:noFill/>
        </p:spPr>
        <p:txBody>
          <a:bodyPr wrap="square">
            <a:spAutoFit/>
          </a:bodyPr>
          <a:lstStyle/>
          <a:p>
            <a:pPr algn="ctr"/>
            <a:r>
              <a:rPr lang="es-ES" sz="1800" b="1" dirty="0">
                <a:solidFill>
                  <a:srgbClr val="A08EF1"/>
                </a:solidFill>
                <a:latin typeface="Arial" panose="020B0604020202020204" pitchFamily="34" charset="0"/>
                <a:ea typeface="Roboto Black" panose="02000000000000000000" pitchFamily="2" charset="0"/>
                <a:cs typeface="Arial" panose="020B0604020202020204" pitchFamily="34" charset="0"/>
              </a:rPr>
              <a:t>Modelado de los datos </a:t>
            </a:r>
          </a:p>
          <a:p>
            <a:pPr algn="ctr"/>
            <a:endParaRPr lang="es-CO" dirty="0">
              <a:solidFill>
                <a:srgbClr val="A08EF1"/>
              </a:solidFill>
            </a:endParaRPr>
          </a:p>
        </p:txBody>
      </p:sp>
      <p:pic>
        <p:nvPicPr>
          <p:cNvPr id="5" name="Imagen 4">
            <a:extLst>
              <a:ext uri="{FF2B5EF4-FFF2-40B4-BE49-F238E27FC236}">
                <a16:creationId xmlns:a16="http://schemas.microsoft.com/office/drawing/2014/main" id="{6034B325-9A22-4909-9CFE-B9CA59F4EB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355" y="877575"/>
            <a:ext cx="11059064" cy="5063706"/>
          </a:xfrm>
          <a:prstGeom prst="rect">
            <a:avLst/>
          </a:prstGeom>
        </p:spPr>
      </p:pic>
    </p:spTree>
    <p:custDataLst>
      <p:tags r:id="rId1"/>
    </p:custDataLst>
    <p:extLst>
      <p:ext uri="{BB962C8B-B14F-4D97-AF65-F5344CB8AC3E}">
        <p14:creationId xmlns:p14="http://schemas.microsoft.com/office/powerpoint/2010/main" val="3081575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3A271-E6EB-E4A1-2189-AE784C418E2C}"/>
            </a:ext>
          </a:extLst>
        </p:cNvPr>
        <p:cNvGrpSpPr/>
        <p:nvPr/>
      </p:nvGrpSpPr>
      <p:grpSpPr>
        <a:xfrm>
          <a:off x="0" y="0"/>
          <a:ext cx="0" cy="0"/>
          <a:chOff x="0" y="0"/>
          <a:chExt cx="0" cy="0"/>
        </a:xfrm>
      </p:grpSpPr>
      <p:pic>
        <p:nvPicPr>
          <p:cNvPr id="6" name="Picture 5" descr="A screenshot of a computer&#10;&#10;Description automatically generated">
            <a:extLst>
              <a:ext uri="{FF2B5EF4-FFF2-40B4-BE49-F238E27FC236}">
                <a16:creationId xmlns:a16="http://schemas.microsoft.com/office/drawing/2014/main" id="{300A7F80-B567-0B64-10DD-C7F38A46CC9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Rectángulo 1">
            <a:extLst>
              <a:ext uri="{FF2B5EF4-FFF2-40B4-BE49-F238E27FC236}">
                <a16:creationId xmlns:a16="http://schemas.microsoft.com/office/drawing/2014/main" id="{AAEA9A76-D495-4A0D-AE5A-1E20DC650965}"/>
              </a:ext>
            </a:extLst>
          </p:cNvPr>
          <p:cNvSpPr/>
          <p:nvPr/>
        </p:nvSpPr>
        <p:spPr>
          <a:xfrm>
            <a:off x="548708" y="1351849"/>
            <a:ext cx="6096000" cy="369332"/>
          </a:xfrm>
          <a:prstGeom prst="rect">
            <a:avLst/>
          </a:prstGeom>
        </p:spPr>
        <p:txBody>
          <a:bodyPr>
            <a:spAutoFit/>
          </a:bodyPr>
          <a:lstStyle/>
          <a:p>
            <a:endParaRPr lang="es-CO"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B36F2F24-F3AD-44E7-92EE-56CE8838EA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707" y="904568"/>
            <a:ext cx="11230337" cy="4906298"/>
          </a:xfrm>
          <a:prstGeom prst="rect">
            <a:avLst/>
          </a:prstGeom>
        </p:spPr>
      </p:pic>
    </p:spTree>
    <p:custDataLst>
      <p:tags r:id="rId1"/>
    </p:custDataLst>
    <p:extLst>
      <p:ext uri="{BB962C8B-B14F-4D97-AF65-F5344CB8AC3E}">
        <p14:creationId xmlns:p14="http://schemas.microsoft.com/office/powerpoint/2010/main" val="20623226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Tema de Office">
  <a:themeElements>
    <a:clrScheme name="LINDO LINDO">
      <a:dk1>
        <a:sysClr val="windowText" lastClr="000000"/>
      </a:dk1>
      <a:lt1>
        <a:sysClr val="window" lastClr="FFFFFF"/>
      </a:lt1>
      <a:dk2>
        <a:srgbClr val="142F50"/>
      </a:dk2>
      <a:lt2>
        <a:srgbClr val="F9F8F3"/>
      </a:lt2>
      <a:accent1>
        <a:srgbClr val="38A4D4"/>
      </a:accent1>
      <a:accent2>
        <a:srgbClr val="F6F25C"/>
      </a:accent2>
      <a:accent3>
        <a:srgbClr val="FCA810"/>
      </a:accent3>
      <a:accent4>
        <a:srgbClr val="EF255F"/>
      </a:accent4>
      <a:accent5>
        <a:srgbClr val="22B183"/>
      </a:accent5>
      <a:accent6>
        <a:srgbClr val="8C54B6"/>
      </a:accent6>
      <a:hlink>
        <a:srgbClr val="39BCD2"/>
      </a:hlink>
      <a:folHlink>
        <a:srgbClr val="8963A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2144</TotalTime>
  <Words>971</Words>
  <Application>Microsoft Office PowerPoint</Application>
  <PresentationFormat>Panorámica</PresentationFormat>
  <Paragraphs>113</Paragraphs>
  <Slides>22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22</vt:i4>
      </vt:variant>
    </vt:vector>
  </HeadingPairs>
  <TitlesOfParts>
    <vt:vector size="29" baseType="lpstr">
      <vt:lpstr>Arial</vt:lpstr>
      <vt:lpstr>Bodoni MT Condensed</vt:lpstr>
      <vt:lpstr>Calibri</vt:lpstr>
      <vt:lpstr>Calibri Light</vt:lpstr>
      <vt:lpstr>Nunito Sans</vt:lpstr>
      <vt:lpstr>Times New Roman</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INTRODUCTORIO SEMANA 1</dc:title>
  <dc:creator>Ana Maria Salazar</dc:creator>
  <cp:lastModifiedBy>LENOVO</cp:lastModifiedBy>
  <cp:revision>120</cp:revision>
  <dcterms:created xsi:type="dcterms:W3CDTF">2024-01-29T20:34:43Z</dcterms:created>
  <dcterms:modified xsi:type="dcterms:W3CDTF">2026-05-07T16:43:40Z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D82F9886-3FD5-42EB-B509-1BFBAE8A1A25</vt:lpwstr>
  </property>
  <property fmtid="{D5CDD505-2E9C-101B-9397-08002B2CF9AE}" pid="3" name="ArticulatePath">
    <vt:lpwstr>Semana1_Videoclase_empaquesyembalajes_V3_David</vt:lpwstr>
  </property>
  <property fmtid="{D5CDD505-2E9C-101B-9397-08002B2CF9AE}" pid="4" name="MSIP_Label_fc111285-cafa-4fc9-8a9a-bd902089b24f_Enabled">
    <vt:lpwstr>true</vt:lpwstr>
  </property>
  <property fmtid="{D5CDD505-2E9C-101B-9397-08002B2CF9AE}" pid="5" name="MSIP_Label_fc111285-cafa-4fc9-8a9a-bd902089b24f_SetDate">
    <vt:lpwstr>2025-07-01T13:05:37Z</vt:lpwstr>
  </property>
  <property fmtid="{D5CDD505-2E9C-101B-9397-08002B2CF9AE}" pid="6" name="MSIP_Label_fc111285-cafa-4fc9-8a9a-bd902089b24f_Method">
    <vt:lpwstr>Privileged</vt:lpwstr>
  </property>
  <property fmtid="{D5CDD505-2E9C-101B-9397-08002B2CF9AE}" pid="7" name="MSIP_Label_fc111285-cafa-4fc9-8a9a-bd902089b24f_Name">
    <vt:lpwstr>Public</vt:lpwstr>
  </property>
  <property fmtid="{D5CDD505-2E9C-101B-9397-08002B2CF9AE}" pid="8" name="MSIP_Label_fc111285-cafa-4fc9-8a9a-bd902089b24f_SiteId">
    <vt:lpwstr>cbc2c381-2f2e-4d93-91d1-506c9316ace7</vt:lpwstr>
  </property>
  <property fmtid="{D5CDD505-2E9C-101B-9397-08002B2CF9AE}" pid="9" name="MSIP_Label_fc111285-cafa-4fc9-8a9a-bd902089b24f_ActionId">
    <vt:lpwstr>73fd4af2-d571-43c2-b053-cba03ebf9672</vt:lpwstr>
  </property>
  <property fmtid="{D5CDD505-2E9C-101B-9397-08002B2CF9AE}" pid="10" name="MSIP_Label_fc111285-cafa-4fc9-8a9a-bd902089b24f_ContentBits">
    <vt:lpwstr>0</vt:lpwstr>
  </property>
  <property fmtid="{D5CDD505-2E9C-101B-9397-08002B2CF9AE}" pid="11" name="MSIP_Label_fc111285-cafa-4fc9-8a9a-bd902089b24f_Tag">
    <vt:lpwstr>10, 0, 1, 1</vt:lpwstr>
  </property>
</Properties>
</file>