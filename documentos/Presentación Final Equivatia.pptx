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6" r:id="rId2"/>
    <p:sldId id="262" r:id="rId3"/>
    <p:sldId id="328" r:id="rId4"/>
    <p:sldId id="327" r:id="rId5"/>
    <p:sldId id="317" r:id="rId6"/>
    <p:sldId id="341" r:id="rId7"/>
    <p:sldId id="340" r:id="rId8"/>
    <p:sldId id="318" r:id="rId9"/>
    <p:sldId id="326" r:id="rId10"/>
    <p:sldId id="330" r:id="rId11"/>
    <p:sldId id="336" r:id="rId12"/>
    <p:sldId id="325" r:id="rId13"/>
    <p:sldId id="329" r:id="rId14"/>
    <p:sldId id="342" r:id="rId15"/>
    <p:sldId id="320" r:id="rId16"/>
    <p:sldId id="343" r:id="rId17"/>
    <p:sldId id="323" r:id="rId18"/>
    <p:sldId id="335" r:id="rId19"/>
    <p:sldId id="324" r:id="rId20"/>
    <p:sldId id="338" r:id="rId21"/>
  </p:sldIdLst>
  <p:sldSz cx="12192000" cy="6858000"/>
  <p:notesSz cx="6858000" cy="9144000"/>
  <p:custDataLst>
    <p:tags r:id="rId22"/>
  </p:custData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>
    <p:extLst>
      <p:ext uri="{19B8F6BF-5375-455C-9EA6-DF929625EA0E}">
        <p15:presenceInfo xmlns:p15="http://schemas.microsoft.com/office/powerpoint/2012/main" userId="LENOV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8EF1"/>
    <a:srgbClr val="009579"/>
    <a:srgbClr val="5FDFB4"/>
    <a:srgbClr val="CDF5E8"/>
    <a:srgbClr val="590A06"/>
    <a:srgbClr val="40382D"/>
    <a:srgbClr val="F2F2F2"/>
    <a:srgbClr val="FFD9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556" autoAdjust="0"/>
    <p:restoredTop sz="94660"/>
  </p:normalViewPr>
  <p:slideViewPr>
    <p:cSldViewPr snapToGrid="0">
      <p:cViewPr varScale="1">
        <p:scale>
          <a:sx n="58" d="100"/>
          <a:sy n="58" d="100"/>
        </p:scale>
        <p:origin x="6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6867FC-A8DE-BEB7-2309-ADCA07866E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85DAD0-4459-FE55-CECB-B90C12D2C4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93660F-B513-D89E-3576-4B88D2721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11/05/2026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571D67-05D4-40F3-A596-B31971CA8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F4F99C-EC70-5C40-C5B7-8479F75E2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3173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C71948-1D70-C81A-D90B-6F5DD40F0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83B3FA-BF34-9B88-F7A2-2664CC15F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7BB04C-53D9-2240-EFBB-03E5B4168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11/05/2026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E6789C-BF46-2BBB-306A-AA8A16DBB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072ED8-D00A-CE94-25F5-8515F3C92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3037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3BDF99-07FE-98E0-669A-06E2C48D0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3847A3-4ACC-0908-790B-8E5C10CA9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C98C58-1CBC-EF20-F770-D885D5902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11/05/2026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18368C-D8B9-6D4B-57A6-21EA11D21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26A211-29B6-2EA7-7785-143598371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6801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322BBB-57E9-CC00-168E-0EDCF713B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C986D1-489A-F637-C584-85EE0DD2C6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A6C9512-AB68-C18C-97AE-C94FF97A2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EC1403-2C43-9EFA-9859-FEBA222EA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11/05/2026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079F71A-5E48-5A6D-32BC-AA984216C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6642BCC-FC6F-7D4F-1548-44F4FAEA1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347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AA3E8A-6392-4937-1B6B-B6408F43A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58097CE-196A-CA0F-7949-C689C4672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997850D-DDCE-2B8F-F886-A925AFA063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0AA7365-B339-74BB-17AC-78D1AFE735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E086C7C-18AD-222A-2EFF-AB30D9A066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152AEE7-79F3-5DD2-FA9C-EB2EAB3C7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11/05/2026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9EF79DD-AEEE-F5CE-F2A2-AD118116D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32CD2A8-BD40-A64D-FB29-42D2CB506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47809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3DAC91-67EB-D444-D6C1-509B11711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D35F173-A537-CFA8-9CEB-A70EAE646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11/05/2026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32DB93C-BC82-4122-1972-F06E5C8F2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BAC77BA-0944-742F-1582-328DC6079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30123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945E1C4-6174-26B8-BD5E-BDCBAB7CE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11/05/2026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734D51A-9FE0-73DC-339A-AB18F8D0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BA08305-8078-E9A9-D645-512AA096B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30852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D10F01-81DB-FAF2-7A28-667941ADA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F57EBD-4DFF-A354-AD9C-CB83FD6D9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5AC9778-1481-3414-D966-DDD4D4B41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CA95F97-3D1A-4B0E-66FA-E1C4BC1EC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11/05/2026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33523B4-6940-4754-AC34-96F68AB4D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644A464-A5F8-2727-FE7E-191C9CA95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3818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EAEC7B-5DB1-3211-18A0-E7F4FE887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0BB9676-7850-63F3-E0CB-42C9EA4C03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487C856-D660-42A4-4801-BC1AD05CED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30EE0A-E498-7145-6A6F-ED94302B6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11/05/2026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B442C6-A743-8656-79F3-DCC6EE339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FBB10F-38A0-1C19-8034-6EAE8B257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3175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1A361-5C18-6498-3353-2DF4A4261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FBA6CAE-87E8-2B95-49CD-67B2AB65F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A343DC-D5DB-68F0-A3CB-6E8DF0D83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11/05/2026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18F4E6-EE01-42E3-D654-75BA15C6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697BF0-7C74-0A8B-B7EC-276F993A7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56275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2FC3F77-EBFF-9CDA-9940-B87F4A539F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15511C0-2287-DE9F-400B-A7DCE2D5E2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5E7372-80DE-6BC0-682F-AB54EF25C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11/05/2026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680DEB-D5A7-76F3-4FC9-A79BF92BE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7CD804-5A3C-6594-22F8-941FECCBB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0495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5869A09-FEF3-311C-B2BB-C81FA0F20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8B04212-FCC9-4856-E626-1607418AD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2E3369-AC7F-096E-2AA8-DA9FB14B64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7AFBE-F2C4-4925-8955-5790DBA5559D}" type="datetimeFigureOut">
              <a:rPr lang="es-CO" smtClean="0"/>
              <a:t>11/05/2026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0568B0-646E-830F-43E3-53B516B50E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ACDB0F-BB48-6B49-1F03-D4CC8E046E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63108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2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6" Type="http://schemas.openxmlformats.org/officeDocument/2006/relationships/slide" Target="slide1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2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4" Type="http://schemas.openxmlformats.org/officeDocument/2006/relationships/image" Target="../media/image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FD7D6-C94B-33A0-66D5-1708A5CE8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women looking at a computer&#10;&#10;Description automatically generated">
            <a:extLst>
              <a:ext uri="{FF2B5EF4-FFF2-40B4-BE49-F238E27FC236}">
                <a16:creationId xmlns:a16="http://schemas.microsoft.com/office/drawing/2014/main" id="{FD60101D-D15C-8B23-546F-489FF7B89CC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CCCE5D-B55F-9AED-DADC-103BB5E5180E}"/>
              </a:ext>
            </a:extLst>
          </p:cNvPr>
          <p:cNvSpPr txBox="1"/>
          <p:nvPr/>
        </p:nvSpPr>
        <p:spPr>
          <a:xfrm>
            <a:off x="893435" y="1576108"/>
            <a:ext cx="49423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Proyecto final del curso de Programación </a:t>
            </a:r>
          </a:p>
          <a:p>
            <a:r>
              <a:rPr lang="es-ES" sz="200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Nivel Explorador.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E64793-6608-8EE6-0E92-288652D6CA7A}"/>
              </a:ext>
            </a:extLst>
          </p:cNvPr>
          <p:cNvSpPr txBox="1"/>
          <p:nvPr/>
        </p:nvSpPr>
        <p:spPr>
          <a:xfrm>
            <a:off x="893435" y="3628804"/>
            <a:ext cx="6081921" cy="13798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36000">
              <a:lnSpc>
                <a:spcPct val="150000"/>
              </a:lnSpc>
            </a:pPr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Transformación del mercado eléctrico en Colombia.</a:t>
            </a:r>
          </a:p>
          <a:p>
            <a:pPr marL="36000">
              <a:lnSpc>
                <a:spcPct val="150000"/>
              </a:lnSpc>
            </a:pPr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Energía Verde Sostenible con Equidad Social </a:t>
            </a:r>
          </a:p>
          <a:p>
            <a:pPr marL="36000">
              <a:lnSpc>
                <a:spcPct val="150000"/>
              </a:lnSpc>
            </a:pPr>
            <a:endParaRPr lang="en-US" b="1" dirty="0">
              <a:solidFill>
                <a:schemeClr val="bg1"/>
              </a:solidFill>
              <a:latin typeface="Arial" panose="020B0604020202020204" pitchFamily="34" charset="0"/>
              <a:ea typeface="Roboto Black" panose="020000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7B972161-FC61-E64E-5DBE-DC87A05D35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3435" y="3583085"/>
            <a:ext cx="2715709" cy="4571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BE9174A-FF5A-E63E-004B-437E1EA7F83A}"/>
              </a:ext>
            </a:extLst>
          </p:cNvPr>
          <p:cNvSpPr txBox="1"/>
          <p:nvPr/>
        </p:nvSpPr>
        <p:spPr>
          <a:xfrm>
            <a:off x="893436" y="2295553"/>
            <a:ext cx="5981818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EQUIVATIA: Marketplace Inteligencia de </a:t>
            </a:r>
            <a:r>
              <a:rPr lang="es-ES" sz="3200" b="1" dirty="0" err="1">
                <a:solidFill>
                  <a:schemeClr val="bg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Energia</a:t>
            </a:r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 P2P</a:t>
            </a:r>
            <a:endParaRPr lang="en-US" sz="3200" b="1" dirty="0">
              <a:solidFill>
                <a:schemeClr val="bg1"/>
              </a:solidFill>
              <a:latin typeface="Arial" panose="020B0604020202020204" pitchFamily="34" charset="0"/>
              <a:ea typeface="Roboto Black" panose="02000000000000000000" pitchFamily="2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56282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FC2DA7B-E466-2533-7FD0-4C7517D22C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68CBBE1A-3BA1-4CAA-957F-4AE1F849190C}"/>
              </a:ext>
            </a:extLst>
          </p:cNvPr>
          <p:cNvSpPr txBox="1"/>
          <p:nvPr/>
        </p:nvSpPr>
        <p:spPr>
          <a:xfrm>
            <a:off x="2095899" y="5306633"/>
            <a:ext cx="779103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03120" marR="62865" indent="-2032000" algn="ctr"/>
            <a:r>
              <a:rPr lang="es-ES" sz="2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Marketplace Inteligencia de Energía P2P</a:t>
            </a:r>
            <a:endParaRPr lang="es-CO" sz="2800" b="1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103120" marR="62865" indent="-2032000">
              <a:spcAft>
                <a:spcPts val="0"/>
              </a:spcAft>
            </a:pPr>
            <a:endParaRPr lang="es-CO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F9EAC25-1C67-465B-88BC-75192499A8ED}"/>
              </a:ext>
            </a:extLst>
          </p:cNvPr>
          <p:cNvSpPr txBox="1"/>
          <p:nvPr/>
        </p:nvSpPr>
        <p:spPr>
          <a:xfrm>
            <a:off x="520700" y="2298700"/>
            <a:ext cx="379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.</a:t>
            </a:r>
            <a:endParaRPr lang="es-CO" dirty="0"/>
          </a:p>
        </p:txBody>
      </p:sp>
      <p:sp>
        <p:nvSpPr>
          <p:cNvPr id="7" name="AutoShape 2" descr="blob:https://web.whatsapp.com/2578f76a-eea3-4093-b34f-bfe0bc27529e">
            <a:extLst>
              <a:ext uri="{FF2B5EF4-FFF2-40B4-BE49-F238E27FC236}">
                <a16:creationId xmlns:a16="http://schemas.microsoft.com/office/drawing/2014/main" id="{BB22C221-0C52-4C9A-8E8F-87480518D9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07200" y="300956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02C4BF99-B706-442F-8087-413C1A108D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026" y="862489"/>
            <a:ext cx="10170544" cy="509308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7A874A5-0DE0-D864-C8F5-C720C3798D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218" y="965101"/>
            <a:ext cx="2761910" cy="20444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34352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EFE67-4F5E-0909-9C28-EB473BE9A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44E1B251-CEDE-72F4-F613-FF70BF87AC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C78B877-9F75-452B-9068-695A752494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7" y="1283896"/>
            <a:ext cx="12192001" cy="3245069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5FCD77AD-8AB8-4DAE-B09F-B734222BC5D9}"/>
              </a:ext>
            </a:extLst>
          </p:cNvPr>
          <p:cNvSpPr txBox="1"/>
          <p:nvPr/>
        </p:nvSpPr>
        <p:spPr>
          <a:xfrm>
            <a:off x="1123337" y="5121546"/>
            <a:ext cx="220979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600" b="1" dirty="0"/>
              <a:t> </a:t>
            </a:r>
            <a:r>
              <a:rPr lang="es-CO" sz="1600" b="1" dirty="0">
                <a:latin typeface="Arial" panose="020B0604020202020204" pitchFamily="34" charset="0"/>
                <a:cs typeface="Arial" panose="020B0604020202020204" pitchFamily="34" charset="0"/>
              </a:rPr>
              <a:t>Incapacidad para venta directa de excedentes a terceros.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AFC1ACA-EDE7-40C1-8543-6528DF9050F8}"/>
              </a:ext>
            </a:extLst>
          </p:cNvPr>
          <p:cNvSpPr txBox="1"/>
          <p:nvPr/>
        </p:nvSpPr>
        <p:spPr>
          <a:xfrm>
            <a:off x="3637932" y="5131378"/>
            <a:ext cx="27333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600" b="1" dirty="0">
                <a:latin typeface="Arial" panose="020B0604020202020204" pitchFamily="34" charset="0"/>
                <a:cs typeface="Arial" panose="020B0604020202020204" pitchFamily="34" charset="0"/>
              </a:rPr>
              <a:t>Dependencia de redes centralizadas de alto costo</a:t>
            </a:r>
            <a:r>
              <a:rPr lang="es-CO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9ED979B-B6F0-4374-B7F4-0E65104B9DE7}"/>
              </a:ext>
            </a:extLst>
          </p:cNvPr>
          <p:cNvSpPr txBox="1"/>
          <p:nvPr/>
        </p:nvSpPr>
        <p:spPr>
          <a:xfrm>
            <a:off x="6609734" y="5093744"/>
            <a:ext cx="246052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600" b="1" dirty="0">
                <a:latin typeface="Arial" panose="020B0604020202020204" pitchFamily="34" charset="0"/>
                <a:cs typeface="Arial" panose="020B0604020202020204" pitchFamily="34" charset="0"/>
              </a:rPr>
              <a:t>Falta de mecanismos sencillos de comercialización</a:t>
            </a:r>
            <a:r>
              <a:rPr lang="es-CO" sz="2000" dirty="0"/>
              <a:t>.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919DC61-CF29-417F-89E3-12BC73642078}"/>
              </a:ext>
            </a:extLst>
          </p:cNvPr>
          <p:cNvSpPr txBox="1"/>
          <p:nvPr/>
        </p:nvSpPr>
        <p:spPr>
          <a:xfrm>
            <a:off x="9375061" y="5093744"/>
            <a:ext cx="25121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CO" b="1" dirty="0" err="1">
                <a:latin typeface="Arial" panose="020B0604020202020204" pitchFamily="34" charset="0"/>
                <a:cs typeface="Arial" panose="020B0604020202020204" pitchFamily="34" charset="0"/>
              </a:rPr>
              <a:t>ontaminación</a:t>
            </a:r>
            <a:r>
              <a:rPr lang="es-CO" b="1" dirty="0">
                <a:latin typeface="Arial" panose="020B0604020202020204" pitchFamily="34" charset="0"/>
                <a:cs typeface="Arial" panose="020B0604020202020204" pitchFamily="34" charset="0"/>
              </a:rPr>
              <a:t> Ambiental</a:t>
            </a:r>
          </a:p>
        </p:txBody>
      </p:sp>
      <p:pic>
        <p:nvPicPr>
          <p:cNvPr id="28" name="Gráfico 27" descr="Marca de verificación con relleno sólido">
            <a:extLst>
              <a:ext uri="{FF2B5EF4-FFF2-40B4-BE49-F238E27FC236}">
                <a16:creationId xmlns:a16="http://schemas.microsoft.com/office/drawing/2014/main" id="{F5D2BEC9-A854-43BA-AA0B-7F0D3E071C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1482" y="5257984"/>
            <a:ext cx="381020" cy="466851"/>
          </a:xfrm>
          <a:prstGeom prst="rect">
            <a:avLst/>
          </a:prstGeom>
        </p:spPr>
      </p:pic>
      <p:pic>
        <p:nvPicPr>
          <p:cNvPr id="29" name="Gráfico 28" descr="Marca de verificación con relleno sólido">
            <a:extLst>
              <a:ext uri="{FF2B5EF4-FFF2-40B4-BE49-F238E27FC236}">
                <a16:creationId xmlns:a16="http://schemas.microsoft.com/office/drawing/2014/main" id="{2973B39E-5795-4077-A81F-649F139E05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15136" y="5203910"/>
            <a:ext cx="381020" cy="466851"/>
          </a:xfrm>
          <a:prstGeom prst="rect">
            <a:avLst/>
          </a:prstGeom>
        </p:spPr>
      </p:pic>
      <p:pic>
        <p:nvPicPr>
          <p:cNvPr id="30" name="Gráfico 29" descr="Marca de verificación con relleno sólido">
            <a:extLst>
              <a:ext uri="{FF2B5EF4-FFF2-40B4-BE49-F238E27FC236}">
                <a16:creationId xmlns:a16="http://schemas.microsoft.com/office/drawing/2014/main" id="{8CC79305-8091-44F3-98C8-94B8E17881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59905" y="5238326"/>
            <a:ext cx="381020" cy="466851"/>
          </a:xfrm>
          <a:prstGeom prst="rect">
            <a:avLst/>
          </a:prstGeom>
        </p:spPr>
      </p:pic>
      <p:pic>
        <p:nvPicPr>
          <p:cNvPr id="31" name="Gráfico 30" descr="Marca de verificación con relleno sólido">
            <a:extLst>
              <a:ext uri="{FF2B5EF4-FFF2-40B4-BE49-F238E27FC236}">
                <a16:creationId xmlns:a16="http://schemas.microsoft.com/office/drawing/2014/main" id="{B646A61D-97F8-4AAB-8C06-331E3EB904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27688" y="5213750"/>
            <a:ext cx="381020" cy="466851"/>
          </a:xfrm>
          <a:prstGeom prst="rect">
            <a:avLst/>
          </a:prstGeom>
        </p:spPr>
      </p:pic>
      <p:sp>
        <p:nvSpPr>
          <p:cNvPr id="33" name="CuadroTexto 32">
            <a:extLst>
              <a:ext uri="{FF2B5EF4-FFF2-40B4-BE49-F238E27FC236}">
                <a16:creationId xmlns:a16="http://schemas.microsoft.com/office/drawing/2014/main" id="{F24AD540-B62D-43A6-966E-21CB3C2F58E5}"/>
              </a:ext>
            </a:extLst>
          </p:cNvPr>
          <p:cNvSpPr txBox="1"/>
          <p:nvPr/>
        </p:nvSpPr>
        <p:spPr>
          <a:xfrm>
            <a:off x="3045542" y="247094"/>
            <a:ext cx="61697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0" algn="ctr"/>
            <a:r>
              <a:rPr lang="es-ES" sz="2400" b="1" kern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Planteamiento</a:t>
            </a:r>
            <a:r>
              <a:rPr lang="es-ES" sz="2400" b="1" kern="0" spc="-1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s-ES" sz="2400" b="1" kern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del</a:t>
            </a:r>
            <a:r>
              <a:rPr lang="es-ES" sz="2400" b="1" kern="0" spc="-2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s-ES" sz="2400" b="1" kern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problema</a:t>
            </a:r>
            <a:r>
              <a:rPr lang="es-ES" sz="2400" b="1" kern="0" spc="-2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s-ES" sz="2400" b="1" kern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que</a:t>
            </a:r>
            <a:r>
              <a:rPr lang="es-ES" sz="2400" b="1" kern="0" spc="-2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s-ES" sz="2400" b="1" kern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solucionará</a:t>
            </a:r>
            <a:r>
              <a:rPr lang="es-ES" sz="2400" b="1" kern="0" spc="-2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s-ES" sz="2400" b="1" kern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el</a:t>
            </a:r>
            <a:r>
              <a:rPr lang="es-ES" sz="2400" b="1" kern="0" spc="-3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s-ES" sz="2400" b="1" kern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producto/servicio:</a:t>
            </a:r>
            <a:endParaRPr lang="es-CO" sz="2400" b="1" kern="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963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EFE67-4F5E-0909-9C28-EB473BE9A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44E1B251-CEDE-72F4-F613-FF70BF87AC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B2EE471B-6632-47D9-BC30-7C94D342EE0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31029" t="-39804" r="-27618" b="-44674"/>
          <a:stretch/>
        </p:blipFill>
        <p:spPr>
          <a:xfrm>
            <a:off x="-2032000" y="-1104900"/>
            <a:ext cx="16256000" cy="9067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91082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AF2DF-DA57-93DB-D07B-980B5319D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35C4E73-6F6E-88B7-D1DC-C91A1B5975E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6E34FEC-5740-412E-91F9-8F1B4D92B0D0}"/>
              </a:ext>
            </a:extLst>
          </p:cNvPr>
          <p:cNvSpPr txBox="1"/>
          <p:nvPr/>
        </p:nvSpPr>
        <p:spPr>
          <a:xfrm>
            <a:off x="3795410" y="1263048"/>
            <a:ext cx="460118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03120" marR="62865" indent="-2032000" algn="ctr"/>
            <a:endParaRPr lang="es-ES" sz="1600" b="1" dirty="0">
              <a:effectLst/>
              <a:latin typeface="Bodoni MT Condensed" panose="020706060806060202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103120" marR="62865" indent="-2032000">
              <a:spcAft>
                <a:spcPts val="0"/>
              </a:spcAft>
            </a:pPr>
            <a:endParaRPr lang="es-CO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7ADE846-CA1E-4BA0-8437-F7012B02FF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868" y="1544715"/>
            <a:ext cx="10688715" cy="4376690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98E199B8-249C-48C5-A2B0-DDFC6CBEED2B}"/>
              </a:ext>
            </a:extLst>
          </p:cNvPr>
          <p:cNvSpPr txBox="1"/>
          <p:nvPr/>
        </p:nvSpPr>
        <p:spPr>
          <a:xfrm>
            <a:off x="2339266" y="936595"/>
            <a:ext cx="61344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JUSTIFICACIÓN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5618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AF2DF-DA57-93DB-D07B-980B5319D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35C4E73-6F6E-88B7-D1DC-C91A1B5975E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6E34FEC-5740-412E-91F9-8F1B4D92B0D0}"/>
              </a:ext>
            </a:extLst>
          </p:cNvPr>
          <p:cNvSpPr txBox="1"/>
          <p:nvPr/>
        </p:nvSpPr>
        <p:spPr>
          <a:xfrm>
            <a:off x="3795410" y="1263048"/>
            <a:ext cx="460118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03120" marR="62865" indent="-2032000" algn="ctr"/>
            <a:endParaRPr lang="es-ES" sz="1600" b="1" dirty="0">
              <a:effectLst/>
              <a:latin typeface="Bodoni MT Condensed" panose="020706060806060202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103120" marR="62865" indent="-2032000">
              <a:spcAft>
                <a:spcPts val="0"/>
              </a:spcAft>
            </a:pPr>
            <a:endParaRPr lang="es-CO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8E199B8-249C-48C5-A2B0-DDFC6CBEED2B}"/>
              </a:ext>
            </a:extLst>
          </p:cNvPr>
          <p:cNvSpPr txBox="1"/>
          <p:nvPr/>
        </p:nvSpPr>
        <p:spPr>
          <a:xfrm>
            <a:off x="2339266" y="830059"/>
            <a:ext cx="61344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JUSTIFICACIÓN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1F2040D-7A28-47E6-9515-7A4871E0EC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343" y="1504309"/>
            <a:ext cx="9880846" cy="430168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29440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AF2DF-DA57-93DB-D07B-980B5319D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35C4E73-6F6E-88B7-D1DC-C91A1B5975E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6E34FEC-5740-412E-91F9-8F1B4D92B0D0}"/>
              </a:ext>
            </a:extLst>
          </p:cNvPr>
          <p:cNvSpPr txBox="1"/>
          <p:nvPr/>
        </p:nvSpPr>
        <p:spPr>
          <a:xfrm>
            <a:off x="3795410" y="1263048"/>
            <a:ext cx="460118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03120" marR="62865" indent="-2032000" algn="ctr"/>
            <a:endParaRPr lang="es-ES" sz="1600" b="1" dirty="0">
              <a:effectLst/>
              <a:latin typeface="Bodoni MT Condensed" panose="020706060806060202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103120" marR="62865" indent="-2032000">
              <a:spcAft>
                <a:spcPts val="0"/>
              </a:spcAft>
            </a:pPr>
            <a:endParaRPr lang="es-CO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2EBB894B-D651-416A-A596-70E25A44DBC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30066" t="-36913" r="-25853" b="-40518"/>
          <a:stretch/>
        </p:blipFill>
        <p:spPr>
          <a:xfrm>
            <a:off x="-2032000" y="-1104900"/>
            <a:ext cx="16256000" cy="90678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26B1042-5BB9-45C7-87C5-535DCC9F7B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2188" y="1013989"/>
            <a:ext cx="1918448" cy="142441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71122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EFE67-4F5E-0909-9C28-EB473BE9A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44E1B251-CEDE-72F4-F613-FF70BF87AC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185423E-7399-4104-8402-3E7F3BB4FC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876" y="363921"/>
            <a:ext cx="10009239" cy="585184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29013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EFE67-4F5E-0909-9C28-EB473BE9A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44E1B251-CEDE-72F4-F613-FF70BF87AC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2C1E3DBD-1757-E5D1-BE51-98E58E6B8425}"/>
              </a:ext>
            </a:extLst>
          </p:cNvPr>
          <p:cNvSpPr txBox="1"/>
          <p:nvPr/>
        </p:nvSpPr>
        <p:spPr>
          <a:xfrm>
            <a:off x="3005124" y="178426"/>
            <a:ext cx="60946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dirty="0"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OBJETIVOS :</a:t>
            </a:r>
            <a:endParaRPr lang="es-CO" sz="2400" b="1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1897B3D-C775-45C6-AEB1-562DED70509C}"/>
              </a:ext>
            </a:extLst>
          </p:cNvPr>
          <p:cNvSpPr/>
          <p:nvPr/>
        </p:nvSpPr>
        <p:spPr>
          <a:xfrm>
            <a:off x="893342" y="1418588"/>
            <a:ext cx="5072452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Desarrollar una propuesta técnica de un Marketplace Inteligente de Energía P2P (Peer-</a:t>
            </a:r>
            <a:r>
              <a:rPr lang="es-MX" sz="1600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-Peer), sustentado en el ciclo de vida de proyectos de Machine </a:t>
            </a:r>
            <a:r>
              <a:rPr lang="es-MX" sz="1600" dirty="0" err="1"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(ML) </a:t>
            </a:r>
          </a:p>
          <a:p>
            <a:pPr algn="just"/>
            <a:endParaRPr lang="es-CO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22748D9-0226-4C25-8243-B9A5BADFD264}"/>
              </a:ext>
            </a:extLst>
          </p:cNvPr>
          <p:cNvSpPr txBox="1"/>
          <p:nvPr/>
        </p:nvSpPr>
        <p:spPr>
          <a:xfrm>
            <a:off x="902221" y="1089252"/>
            <a:ext cx="378681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200" b="1" dirty="0">
                <a:latin typeface="Arial" panose="020B0604020202020204" pitchFamily="34" charset="0"/>
                <a:cs typeface="Arial" panose="020B0604020202020204" pitchFamily="34" charset="0"/>
              </a:rPr>
              <a:t>GENERAL</a:t>
            </a:r>
            <a:r>
              <a:rPr lang="es-ES" sz="18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2BDC906-1281-4704-B92D-CE52532FA0CC}"/>
              </a:ext>
            </a:extLst>
          </p:cNvPr>
          <p:cNvSpPr txBox="1"/>
          <p:nvPr/>
        </p:nvSpPr>
        <p:spPr>
          <a:xfrm>
            <a:off x="857830" y="2894835"/>
            <a:ext cx="35721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Arial" panose="020B0604020202020204" pitchFamily="34" charset="0"/>
                <a:cs typeface="Arial" panose="020B0604020202020204" pitchFamily="34" charset="0"/>
              </a:rPr>
              <a:t>ESPECIFICOS:</a:t>
            </a:r>
          </a:p>
          <a:p>
            <a:endParaRPr lang="es-CO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1AE6074A-6868-4A52-8C09-9B4495B597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7404" y="1035984"/>
            <a:ext cx="5379639" cy="4548070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B8D02ED9-7A68-4B71-ACC8-F565E79F1A37}"/>
              </a:ext>
            </a:extLst>
          </p:cNvPr>
          <p:cNvSpPr txBox="1"/>
          <p:nvPr/>
        </p:nvSpPr>
        <p:spPr>
          <a:xfrm>
            <a:off x="840801" y="3352778"/>
            <a:ext cx="567660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s-CO" dirty="0"/>
              <a:t>Diagnosticar el problema Energético.</a:t>
            </a:r>
          </a:p>
          <a:p>
            <a:pPr marL="342900" indent="-342900">
              <a:buAutoNum type="arabicPeriod"/>
            </a:pPr>
            <a:r>
              <a:rPr lang="es-CO" dirty="0"/>
              <a:t>Fundamentar el marco teórico y contextual.</a:t>
            </a:r>
          </a:p>
          <a:p>
            <a:pPr marL="342900" indent="-342900">
              <a:buAutoNum type="arabicPeriod"/>
            </a:pPr>
            <a:r>
              <a:rPr lang="es-CO" dirty="0"/>
              <a:t>Diseñar la arquitectura del Marketplace P2P.</a:t>
            </a:r>
          </a:p>
          <a:p>
            <a:pPr marL="342900" indent="-342900">
              <a:buAutoNum type="arabicPeriod"/>
            </a:pPr>
            <a:r>
              <a:rPr lang="es-CO" dirty="0"/>
              <a:t>Gestionar y preparar datos del ecosistema energético.</a:t>
            </a:r>
          </a:p>
          <a:p>
            <a:pPr marL="342900" indent="-342900">
              <a:buAutoNum type="arabicPeriod"/>
            </a:pPr>
            <a:r>
              <a:rPr lang="es-CO" dirty="0"/>
              <a:t>Diseñar la arquitectura de la solución de IA.</a:t>
            </a:r>
          </a:p>
          <a:p>
            <a:pPr marL="342900" indent="-342900">
              <a:buAutoNum type="arabicPeriod"/>
            </a:pPr>
            <a:r>
              <a:rPr lang="es-CO" dirty="0"/>
              <a:t>Fortalecer la participación.</a:t>
            </a:r>
          </a:p>
          <a:p>
            <a:pPr marL="342900" indent="-342900">
              <a:buAutoNum type="arabicPeriod"/>
            </a:pPr>
            <a:r>
              <a:rPr lang="es-CO" dirty="0"/>
              <a:t>Evaluar impacto ambiental y social.</a:t>
            </a:r>
          </a:p>
          <a:p>
            <a:pPr marL="342900" indent="-342900">
              <a:buAutoNum type="arabicPeriod"/>
            </a:pPr>
            <a:r>
              <a:rPr lang="es-CO" dirty="0"/>
              <a:t>Fomentar la creación de comunidades locales.</a:t>
            </a:r>
          </a:p>
          <a:p>
            <a:endParaRPr lang="es-CO" dirty="0"/>
          </a:p>
          <a:p>
            <a:pPr marL="342900" indent="-342900">
              <a:buAutoNum type="arabicPeriod"/>
            </a:pPr>
            <a:endParaRPr lang="es-CO" dirty="0"/>
          </a:p>
          <a:p>
            <a:endParaRPr lang="es-CO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57113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EFE67-4F5E-0909-9C28-EB473BE9A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44E1B251-CEDE-72F4-F613-FF70BF87AC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61352AA-2BC8-4C7A-ABDA-7A33964C67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032386"/>
            <a:ext cx="11243187" cy="496529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42663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3A271-E6EB-E4A1-2189-AE784C418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00A7F80-B567-0B64-10DD-C7F38A46CC9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AAEA9A76-D495-4A0D-AE5A-1E20DC650965}"/>
              </a:ext>
            </a:extLst>
          </p:cNvPr>
          <p:cNvSpPr/>
          <p:nvPr/>
        </p:nvSpPr>
        <p:spPr>
          <a:xfrm>
            <a:off x="548708" y="135184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1D235DC-7F42-40A0-A2EE-0E751DEC4A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57" y="1721181"/>
            <a:ext cx="10946167" cy="4109347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DF052773-5B7D-495C-B80E-ED6EDAAA6A1C}"/>
              </a:ext>
            </a:extLst>
          </p:cNvPr>
          <p:cNvSpPr txBox="1"/>
          <p:nvPr/>
        </p:nvSpPr>
        <p:spPr>
          <a:xfrm>
            <a:off x="3070192" y="1204685"/>
            <a:ext cx="60960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200" b="1" i="0" dirty="0">
                <a:solidFill>
                  <a:srgbClr val="040C28"/>
                </a:solidFill>
                <a:effectLst/>
                <a:latin typeface="Google Sans"/>
              </a:rPr>
              <a:t>METODOLOGIA</a:t>
            </a:r>
            <a:r>
              <a:rPr lang="es-MX" sz="2000" b="1" i="0" dirty="0">
                <a:solidFill>
                  <a:srgbClr val="040C28"/>
                </a:solidFill>
                <a:effectLst/>
                <a:latin typeface="Google Sans"/>
              </a:rPr>
              <a:t> (HERRAMIENTA DE EJECUCIÓN)</a:t>
            </a:r>
            <a:endParaRPr lang="es-CO" sz="20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5966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3A271-E6EB-E4A1-2189-AE784C418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00A7F80-B567-0B64-10DD-C7F38A46CC9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90B4249-ED04-0453-12F1-E21CFD129839}"/>
              </a:ext>
            </a:extLst>
          </p:cNvPr>
          <p:cNvSpPr txBox="1"/>
          <p:nvPr/>
        </p:nvSpPr>
        <p:spPr>
          <a:xfrm>
            <a:off x="676084" y="1355122"/>
            <a:ext cx="33354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CO" dirty="0"/>
          </a:p>
          <a:p>
            <a:r>
              <a:rPr lang="es-CO" sz="3600" dirty="0"/>
              <a:t> </a:t>
            </a:r>
            <a:endParaRPr lang="es-CO" b="1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AEA9A76-D495-4A0D-AE5A-1E20DC650965}"/>
              </a:ext>
            </a:extLst>
          </p:cNvPr>
          <p:cNvSpPr/>
          <p:nvPr/>
        </p:nvSpPr>
        <p:spPr>
          <a:xfrm>
            <a:off x="548708" y="135184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427C931C-CCA9-4230-9DE3-DDC85D8FF93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24733" t="-63105" r="-24934" b="-60724"/>
          <a:stretch/>
        </p:blipFill>
        <p:spPr>
          <a:xfrm>
            <a:off x="-2032000" y="-710451"/>
            <a:ext cx="16256000" cy="9067800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BEBB971D-8720-402B-A3E0-A781EA7FFCAD}"/>
              </a:ext>
            </a:extLst>
          </p:cNvPr>
          <p:cNvSpPr txBox="1"/>
          <p:nvPr/>
        </p:nvSpPr>
        <p:spPr>
          <a:xfrm>
            <a:off x="1985683" y="1065908"/>
            <a:ext cx="82206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dirty="0"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PERTINENCIA:</a:t>
            </a:r>
            <a:endParaRPr lang="es-CO" sz="24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3442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3A271-E6EB-E4A1-2189-AE784C418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00A7F80-B567-0B64-10DD-C7F38A46CC9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AAEA9A76-D495-4A0D-AE5A-1E20DC650965}"/>
              </a:ext>
            </a:extLst>
          </p:cNvPr>
          <p:cNvSpPr/>
          <p:nvPr/>
        </p:nvSpPr>
        <p:spPr>
          <a:xfrm>
            <a:off x="548708" y="135184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04FC1D7D-E6AB-42D0-82B7-69577ADA18E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27637" t="-37634" r="-25775" b="-41712"/>
          <a:stretch/>
        </p:blipFill>
        <p:spPr>
          <a:xfrm>
            <a:off x="-2032000" y="-1104900"/>
            <a:ext cx="16256000" cy="9067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6943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3A271-E6EB-E4A1-2189-AE784C418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00A7F80-B567-0B64-10DD-C7F38A46CC9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90B4249-ED04-0453-12F1-E21CFD129839}"/>
              </a:ext>
            </a:extLst>
          </p:cNvPr>
          <p:cNvSpPr txBox="1"/>
          <p:nvPr/>
        </p:nvSpPr>
        <p:spPr>
          <a:xfrm>
            <a:off x="676084" y="1355122"/>
            <a:ext cx="33354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CO" dirty="0"/>
          </a:p>
          <a:p>
            <a:r>
              <a:rPr lang="es-CO" sz="3600" dirty="0"/>
              <a:t> </a:t>
            </a:r>
            <a:endParaRPr lang="es-CO" b="1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AEA9A76-D495-4A0D-AE5A-1E20DC650965}"/>
              </a:ext>
            </a:extLst>
          </p:cNvPr>
          <p:cNvSpPr/>
          <p:nvPr/>
        </p:nvSpPr>
        <p:spPr>
          <a:xfrm>
            <a:off x="548708" y="135184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3453453C-1475-426A-AEAA-66041FC40E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420" y="1351848"/>
            <a:ext cx="10360241" cy="4565881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00945CD-81F2-481C-AC78-0780B0E43C5F}"/>
              </a:ext>
            </a:extLst>
          </p:cNvPr>
          <p:cNvSpPr txBox="1"/>
          <p:nvPr/>
        </p:nvSpPr>
        <p:spPr>
          <a:xfrm>
            <a:off x="3031724" y="541226"/>
            <a:ext cx="613447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b="1" i="0" dirty="0">
                <a:solidFill>
                  <a:srgbClr val="040C28"/>
                </a:solidFill>
                <a:effectLst/>
                <a:latin typeface="Google Sans"/>
              </a:rPr>
              <a:t>MARCO LEGAL Y ETICO</a:t>
            </a:r>
          </a:p>
          <a:p>
            <a:pPr algn="ctr"/>
            <a:endParaRPr lang="es-CO" sz="1800" b="1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8" name="Vista general de diapositiva 7">
                <a:extLst>
                  <a:ext uri="{FF2B5EF4-FFF2-40B4-BE49-F238E27FC236}">
                    <a16:creationId xmlns:a16="http://schemas.microsoft.com/office/drawing/2014/main" id="{E30A2C2B-D5F9-4BEF-9DBC-F81E9F12A58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50259333"/>
                  </p:ext>
                </p:extLst>
              </p:nvPr>
            </p:nvGraphicFramePr>
            <p:xfrm>
              <a:off x="465081" y="1884176"/>
              <a:ext cx="3048000" cy="1714500"/>
            </p:xfrm>
            <a:graphic>
              <a:graphicData uri="http://schemas.microsoft.com/office/powerpoint/2016/slidezoom">
                <pslz:sldZm>
                  <pslz:sldZmObj sldId="342" cId="1951513380">
                    <pslz:zmPr id="{2AD52A25-4F81-4606-907A-1E5D972AA234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8" name="Vista general de diapositiva 7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E30A2C2B-D5F9-4BEF-9DBC-F81E9F12A58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5081" y="1884176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9515133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B80B5-2D50-D588-FF85-222A1584F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6DF00DD1-178D-79C7-2D5A-88370873C5D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57825AD2-7E66-AF76-EDDC-F3A503436B7A}"/>
              </a:ext>
            </a:extLst>
          </p:cNvPr>
          <p:cNvSpPr txBox="1"/>
          <p:nvPr/>
        </p:nvSpPr>
        <p:spPr>
          <a:xfrm>
            <a:off x="1025667" y="87767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Alcance</a:t>
            </a:r>
            <a:r>
              <a:rPr lang="en-US" sz="1800" b="1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 </a:t>
            </a:r>
            <a:endParaRPr lang="es-CO" dirty="0">
              <a:solidFill>
                <a:srgbClr val="A08EF1"/>
              </a:solidFill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F309E8EF-3950-4CC0-8A14-A3E6367541B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29759" t="-40989" r="-28459" b="-48004"/>
          <a:stretch/>
        </p:blipFill>
        <p:spPr>
          <a:xfrm>
            <a:off x="-2032000" y="-1104900"/>
            <a:ext cx="16256000" cy="9067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63597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B80B5-2D50-D588-FF85-222A1584F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6DF00DD1-178D-79C7-2D5A-88370873C5D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57825AD2-7E66-AF76-EDDC-F3A503436B7A}"/>
              </a:ext>
            </a:extLst>
          </p:cNvPr>
          <p:cNvSpPr txBox="1"/>
          <p:nvPr/>
        </p:nvSpPr>
        <p:spPr>
          <a:xfrm>
            <a:off x="1025667" y="87767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Alcance</a:t>
            </a:r>
            <a:r>
              <a:rPr lang="en-US" sz="1800" b="1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 </a:t>
            </a:r>
            <a:endParaRPr lang="es-CO" dirty="0">
              <a:solidFill>
                <a:srgbClr val="A08EF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958099F-CE8B-4EBF-86CC-682A8082C6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587" y="790113"/>
            <a:ext cx="10253708" cy="511538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685539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D9266-94D4-E379-CC47-59C0B75CC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B0B13922-F6E0-B8A9-3ADB-96175AA1241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5989C9C0-A9B9-E8DC-0C20-51067E8AB9C8}"/>
              </a:ext>
            </a:extLst>
          </p:cNvPr>
          <p:cNvSpPr txBox="1"/>
          <p:nvPr/>
        </p:nvSpPr>
        <p:spPr>
          <a:xfrm>
            <a:off x="3048681" y="241030"/>
            <a:ext cx="60946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b="1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Modelado de los datos </a:t>
            </a:r>
          </a:p>
          <a:p>
            <a:pPr algn="ctr"/>
            <a:endParaRPr lang="es-CO" dirty="0">
              <a:solidFill>
                <a:srgbClr val="A08EF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034B325-9A22-4909-9CFE-B9CA59F4EB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355" y="877575"/>
            <a:ext cx="11059064" cy="506370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815755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3A271-E6EB-E4A1-2189-AE784C418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00A7F80-B567-0B64-10DD-C7F38A46CC9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AAEA9A76-D495-4A0D-AE5A-1E20DC650965}"/>
              </a:ext>
            </a:extLst>
          </p:cNvPr>
          <p:cNvSpPr/>
          <p:nvPr/>
        </p:nvSpPr>
        <p:spPr>
          <a:xfrm>
            <a:off x="548708" y="135184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CE513D45-A9CA-42BA-8CF0-E225F1A89D2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27126" t="-36526" r="-29195" b="-38003"/>
          <a:stretch/>
        </p:blipFill>
        <p:spPr>
          <a:xfrm>
            <a:off x="-1752868" y="-1104900"/>
            <a:ext cx="16256000" cy="9067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066770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3A271-E6EB-E4A1-2189-AE784C418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00A7F80-B567-0B64-10DD-C7F38A46CC9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90B4249-ED04-0453-12F1-E21CFD129839}"/>
              </a:ext>
            </a:extLst>
          </p:cNvPr>
          <p:cNvSpPr txBox="1"/>
          <p:nvPr/>
        </p:nvSpPr>
        <p:spPr>
          <a:xfrm>
            <a:off x="382786" y="1094659"/>
            <a:ext cx="454289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00" dirty="0">
              <a:latin typeface="Arial" panose="020B0604020202020204" pitchFamily="34" charset="0"/>
              <a:ea typeface="Roboto Black" panose="02000000000000000000" pitchFamily="2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 </a:t>
            </a:r>
            <a:endParaRPr lang="es-CO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AEA9A76-D495-4A0D-AE5A-1E20DC650965}"/>
              </a:ext>
            </a:extLst>
          </p:cNvPr>
          <p:cNvSpPr/>
          <p:nvPr/>
        </p:nvSpPr>
        <p:spPr>
          <a:xfrm>
            <a:off x="548708" y="135184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32349539-896B-4184-AAFC-9AD57B4F36C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28091" t="-39903" r="-26895" b="-40079"/>
          <a:stretch/>
        </p:blipFill>
        <p:spPr>
          <a:xfrm>
            <a:off x="-2032000" y="-1104900"/>
            <a:ext cx="16256000" cy="9067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853377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3A271-E6EB-E4A1-2189-AE784C418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00A7F80-B567-0B64-10DD-C7F38A46CC9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AAEA9A76-D495-4A0D-AE5A-1E20DC650965}"/>
              </a:ext>
            </a:extLst>
          </p:cNvPr>
          <p:cNvSpPr/>
          <p:nvPr/>
        </p:nvSpPr>
        <p:spPr>
          <a:xfrm>
            <a:off x="548708" y="135184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36F2F24-F3AD-44E7-92EE-56CE8838EA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707" y="904568"/>
            <a:ext cx="11230337" cy="490629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623226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Tema de Office">
  <a:themeElements>
    <a:clrScheme name="LINDO LINDO">
      <a:dk1>
        <a:sysClr val="windowText" lastClr="000000"/>
      </a:dk1>
      <a:lt1>
        <a:sysClr val="window" lastClr="FFFFFF"/>
      </a:lt1>
      <a:dk2>
        <a:srgbClr val="142F50"/>
      </a:dk2>
      <a:lt2>
        <a:srgbClr val="F9F8F3"/>
      </a:lt2>
      <a:accent1>
        <a:srgbClr val="38A4D4"/>
      </a:accent1>
      <a:accent2>
        <a:srgbClr val="F6F25C"/>
      </a:accent2>
      <a:accent3>
        <a:srgbClr val="FCA810"/>
      </a:accent3>
      <a:accent4>
        <a:srgbClr val="EF255F"/>
      </a:accent4>
      <a:accent5>
        <a:srgbClr val="22B183"/>
      </a:accent5>
      <a:accent6>
        <a:srgbClr val="8C54B6"/>
      </a:accent6>
      <a:hlink>
        <a:srgbClr val="39BCD2"/>
      </a:hlink>
      <a:folHlink>
        <a:srgbClr val="8963A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2567</TotalTime>
  <Words>183</Words>
  <Application>Microsoft Office PowerPoint</Application>
  <PresentationFormat>Panorámica</PresentationFormat>
  <Paragraphs>40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6" baseType="lpstr">
      <vt:lpstr>Arial</vt:lpstr>
      <vt:lpstr>Bodoni MT Condensed</vt:lpstr>
      <vt:lpstr>Calibri</vt:lpstr>
      <vt:lpstr>Calibri Light</vt:lpstr>
      <vt:lpstr>Google Sans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INTRODUCTORIO SEMANA 1</dc:title>
  <dc:creator>Ana Maria Salazar</dc:creator>
  <cp:lastModifiedBy>LENOVO</cp:lastModifiedBy>
  <cp:revision>144</cp:revision>
  <dcterms:created xsi:type="dcterms:W3CDTF">2024-01-29T20:34:43Z</dcterms:created>
  <dcterms:modified xsi:type="dcterms:W3CDTF">2026-05-11T15:53:43Z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D82F9886-3FD5-42EB-B509-1BFBAE8A1A25</vt:lpwstr>
  </property>
  <property fmtid="{D5CDD505-2E9C-101B-9397-08002B2CF9AE}" pid="3" name="ArticulatePath">
    <vt:lpwstr>Semana1_Videoclase_empaquesyembalajes_V3_David</vt:lpwstr>
  </property>
  <property fmtid="{D5CDD505-2E9C-101B-9397-08002B2CF9AE}" pid="4" name="MSIP_Label_fc111285-cafa-4fc9-8a9a-bd902089b24f_Enabled">
    <vt:lpwstr>true</vt:lpwstr>
  </property>
  <property fmtid="{D5CDD505-2E9C-101B-9397-08002B2CF9AE}" pid="5" name="MSIP_Label_fc111285-cafa-4fc9-8a9a-bd902089b24f_SetDate">
    <vt:lpwstr>2025-07-01T13:05:37Z</vt:lpwstr>
  </property>
  <property fmtid="{D5CDD505-2E9C-101B-9397-08002B2CF9AE}" pid="6" name="MSIP_Label_fc111285-cafa-4fc9-8a9a-bd902089b24f_Method">
    <vt:lpwstr>Privileged</vt:lpwstr>
  </property>
  <property fmtid="{D5CDD505-2E9C-101B-9397-08002B2CF9AE}" pid="7" name="MSIP_Label_fc111285-cafa-4fc9-8a9a-bd902089b24f_Name">
    <vt:lpwstr>Public</vt:lpwstr>
  </property>
  <property fmtid="{D5CDD505-2E9C-101B-9397-08002B2CF9AE}" pid="8" name="MSIP_Label_fc111285-cafa-4fc9-8a9a-bd902089b24f_SiteId">
    <vt:lpwstr>cbc2c381-2f2e-4d93-91d1-506c9316ace7</vt:lpwstr>
  </property>
  <property fmtid="{D5CDD505-2E9C-101B-9397-08002B2CF9AE}" pid="9" name="MSIP_Label_fc111285-cafa-4fc9-8a9a-bd902089b24f_ActionId">
    <vt:lpwstr>73fd4af2-d571-43c2-b053-cba03ebf9672</vt:lpwstr>
  </property>
  <property fmtid="{D5CDD505-2E9C-101B-9397-08002B2CF9AE}" pid="10" name="MSIP_Label_fc111285-cafa-4fc9-8a9a-bd902089b24f_ContentBits">
    <vt:lpwstr>0</vt:lpwstr>
  </property>
  <property fmtid="{D5CDD505-2E9C-101B-9397-08002B2CF9AE}" pid="11" name="MSIP_Label_fc111285-cafa-4fc9-8a9a-bd902089b24f_Tag">
    <vt:lpwstr>10, 0, 1, 1</vt:lpwstr>
  </property>
</Properties>
</file>